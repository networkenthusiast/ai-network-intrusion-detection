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301" r:id="rId36"/>
    <p:sldId id="290" r:id="rId37"/>
    <p:sldId id="291" r:id="rId38"/>
    <p:sldId id="292" r:id="rId39"/>
    <p:sldId id="293" r:id="rId40"/>
    <p:sldId id="294" r:id="rId41"/>
    <p:sldId id="295" r:id="rId42"/>
    <p:sldId id="296" r:id="rId43"/>
    <p:sldId id="297" r:id="rId44"/>
    <p:sldId id="298" r:id="rId45"/>
    <p:sldId id="299" r:id="rId46"/>
    <p:sldId id="300" r:id="rId47"/>
  </p:sldIdLst>
  <p:sldSz cx="12192000" cy="6858000"/>
  <p:notesSz cx="6858000" cy="9144000"/>
  <p:embeddedFontLst>
    <p:embeddedFont>
      <p:font typeface="Arial Black" panose="020B0A04020102020204" pitchFamily="34" charset="0"/>
      <p:regular r:id="rId49"/>
      <p:bold r:id="rId50"/>
    </p:embeddedFont>
    <p:embeddedFont>
      <p:font typeface="Play" panose="020B0604020202020204" charset="0"/>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g9qj+aG7RBF8I4YFDN/L6G6lfen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customschemas.google.com/relationships/presentationmetadata" Target="meta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d4a92b9079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d4a92b9079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d4a92b9079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3d4a92b9079_1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 name="Google Shape;11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d4a92b9079_1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g3d4a92b9079_1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d4a92b9079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g3d4a92b9079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 name="Google Shape;18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d4a92b9079_1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1" name="Google Shape;191;g3d4a92b9079_1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d4a92b9079_1_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1" name="Google Shape;211;g3d4a92b9079_1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de0fbb0b14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g3de0fbb0b14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d4a92b9079_1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 name="Google Shape;230;g3d4a92b9079_1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d4a92b9079_1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9" name="Google Shape;239;g3d4a92b9079_1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4a92b9079_1_1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8" name="Google Shape;248;g3d4a92b9079_1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7" name="Google Shape;25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6" name="Google Shape;26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d4a92b9079_1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6" name="Google Shape;276;g3d4a92b9079_1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d4a92b9079_1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6" name="Google Shape;286;g3d4a92b9079_1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d4a92b9079_1_1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6" name="Google Shape;296;g3d4a92b9079_1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d4a92b9079_1_1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6" name="Google Shape;306;g3d4a92b9079_1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de0fbb0b1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de0fbb0b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de0fbb0b14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5" name="Google Shape;325;g3de0fbb0b1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de0fbb0b14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4" name="Google Shape;334;g3de0fbb0b14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de0fbb0b14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3" name="Google Shape;343;g3de0fbb0b1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de0fbb0b14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3" name="Google Shape;353;g3de0fbb0b14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de0fbb0b14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2" name="Google Shape;362;g3de0fbb0b14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de0fbb0b14_0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1" name="Google Shape;371;g3de0fbb0b14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de0fbb0b14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2" name="Google Shape;382;g3de0fbb0b14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de0fbb0b14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g3de0fbb0b14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170803C6-C90A-908C-B0AC-59FDB1D473E7}"/>
            </a:ext>
          </a:extLst>
        </p:cNvPr>
        <p:cNvGrpSpPr/>
        <p:nvPr/>
      </p:nvGrpSpPr>
      <p:grpSpPr>
        <a:xfrm>
          <a:off x="0" y="0"/>
          <a:ext cx="0" cy="0"/>
          <a:chOff x="0" y="0"/>
          <a:chExt cx="0" cy="0"/>
        </a:xfrm>
      </p:grpSpPr>
      <p:sp>
        <p:nvSpPr>
          <p:cNvPr id="390" name="Google Shape;390;g3de0fbb0b14_0_91:notes">
            <a:extLst>
              <a:ext uri="{FF2B5EF4-FFF2-40B4-BE49-F238E27FC236}">
                <a16:creationId xmlns:a16="http://schemas.microsoft.com/office/drawing/2014/main" id="{B52175CB-8E12-BFC9-E4B1-7B87AF145D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g3de0fbb0b14_0_91:notes">
            <a:extLst>
              <a:ext uri="{FF2B5EF4-FFF2-40B4-BE49-F238E27FC236}">
                <a16:creationId xmlns:a16="http://schemas.microsoft.com/office/drawing/2014/main" id="{43B3F627-F8D6-E37D-FC86-98ECD402B6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46786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de0fbb0b14_0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0" name="Google Shape;400;g3de0fbb0b14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de259e4b8e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9" name="Google Shape;409;g3de259e4b8e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de259e4b8e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9" name="Google Shape;419;g3de259e4b8e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de259e4b8e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9" name="Google Shape;429;g3de259e4b8e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de259e4b8e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9" name="Google Shape;439;g3de259e4b8e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de259e4b8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0" name="Google Shape;450;g3de259e4b8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de259e4b8e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9" name="Google Shape;459;g3de259e4b8e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de259e4b8e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9" name="Google Shape;469;g3de259e4b8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de259e4b8e_0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8" name="Google Shape;478;g3de259e4b8e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de259e4b8e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7" name="Google Shape;487;g3de259e4b8e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de259e4b8e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6" name="Google Shape;496;g3de259e4b8e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3"/>
          <p:cNvSpPr>
            <a:spLocks noGrp="1"/>
          </p:cNvSpPr>
          <p:nvPr>
            <p:ph type="pic" idx="2"/>
          </p:nvPr>
        </p:nvSpPr>
        <p:spPr>
          <a:xfrm>
            <a:off x="5183188" y="987425"/>
            <a:ext cx="6172200" cy="4873625"/>
          </a:xfrm>
          <a:prstGeom prst="rect">
            <a:avLst/>
          </a:prstGeom>
          <a:noFill/>
          <a:ln>
            <a:noFill/>
          </a:ln>
        </p:spPr>
      </p:sp>
      <p:sp>
        <p:nvSpPr>
          <p:cNvPr id="64" name="Google Shape;64;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AAI-501 Group 3 Project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85" name="Google Shape;85;p1"/>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86" name="Google Shape;86;p1"/>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87" name="Google Shape;87;p1" descr="USD 4c Logo reverse.ai"/>
          <p:cNvPicPr preferRelativeResize="0"/>
          <p:nvPr/>
        </p:nvPicPr>
        <p:blipFill rotWithShape="1">
          <a:blip r:embed="rId3">
            <a:alphaModFix/>
          </a:blip>
          <a:srcRect/>
          <a:stretch/>
        </p:blipFill>
        <p:spPr>
          <a:xfrm>
            <a:off x="9059333" y="145905"/>
            <a:ext cx="839368" cy="745402"/>
          </a:xfrm>
          <a:prstGeom prst="rect">
            <a:avLst/>
          </a:prstGeom>
          <a:noFill/>
          <a:ln>
            <a:noFill/>
          </a:ln>
        </p:spPr>
      </p:pic>
      <p:sp>
        <p:nvSpPr>
          <p:cNvPr id="88" name="Google Shape;88;p1"/>
          <p:cNvSpPr txBox="1"/>
          <p:nvPr/>
        </p:nvSpPr>
        <p:spPr>
          <a:xfrm>
            <a:off x="2095154" y="1443841"/>
            <a:ext cx="8001600" cy="4516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0" algn="ctr" rtl="0">
              <a:lnSpc>
                <a:spcPct val="115000"/>
              </a:lnSpc>
              <a:spcBef>
                <a:spcPts val="1200"/>
              </a:spcBef>
              <a:spcAft>
                <a:spcPts val="0"/>
              </a:spcAft>
              <a:buClr>
                <a:srgbClr val="000000"/>
              </a:buClr>
              <a:buSzPts val="1100"/>
              <a:buFont typeface="Arial"/>
              <a:buNone/>
            </a:pPr>
            <a:r>
              <a:rPr lang="en-US" sz="1800" b="1" i="0" u="none" strike="noStrike" cap="none" dirty="0">
                <a:solidFill>
                  <a:schemeClr val="dk1"/>
                </a:solidFill>
                <a:latin typeface="Arial"/>
                <a:ea typeface="Arial"/>
                <a:cs typeface="Arial"/>
                <a:sym typeface="Arial"/>
              </a:rPr>
              <a:t>Hybrid Intrusion Detection System </a:t>
            </a:r>
            <a:endParaRPr sz="1800" b="1" i="0" u="none" strike="noStrike" cap="none" dirty="0">
              <a:solidFill>
                <a:schemeClr val="dk1"/>
              </a:solidFill>
              <a:latin typeface="Arial"/>
              <a:ea typeface="Arial"/>
              <a:cs typeface="Arial"/>
              <a:sym typeface="Arial"/>
            </a:endParaRPr>
          </a:p>
          <a:p>
            <a:pPr marL="0" marR="0" lvl="0" indent="0" algn="ctr" rtl="0">
              <a:lnSpc>
                <a:spcPct val="115000"/>
              </a:lnSpc>
              <a:spcBef>
                <a:spcPts val="1200"/>
              </a:spcBef>
              <a:spcAft>
                <a:spcPts val="0"/>
              </a:spcAft>
              <a:buClr>
                <a:srgbClr val="000000"/>
              </a:buClr>
              <a:buSzPts val="1100"/>
              <a:buFont typeface="Arial"/>
              <a:buNone/>
            </a:pPr>
            <a:r>
              <a:rPr lang="en-US" sz="1800" b="1" i="0" u="none" strike="noStrike" cap="none" dirty="0">
                <a:solidFill>
                  <a:schemeClr val="dk1"/>
                </a:solidFill>
                <a:latin typeface="Arial"/>
                <a:ea typeface="Arial"/>
                <a:cs typeface="Arial"/>
                <a:sym typeface="Arial"/>
              </a:rPr>
              <a:t>Using Supervised and Unsupervised Learning Algorithm</a:t>
            </a:r>
            <a:endParaRPr sz="1800" b="1" i="0" u="none" strike="noStrike" cap="none" dirty="0">
              <a:solidFill>
                <a:schemeClr val="dk1"/>
              </a:solidFill>
              <a:latin typeface="Arial"/>
              <a:ea typeface="Arial"/>
              <a:cs typeface="Arial"/>
              <a:sym typeface="Arial"/>
            </a:endParaRPr>
          </a:p>
          <a:p>
            <a:pPr marL="0" marR="0" lvl="0" indent="0" algn="ctr" rtl="0">
              <a:lnSpc>
                <a:spcPct val="100000"/>
              </a:lnSpc>
              <a:spcBef>
                <a:spcPts val="120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Kalyan Brata Majumder</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Karthik Mekala</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MS in Applied Artificial Intelligence</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University of San Diego</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Supervisor: Prof. Anuj Kumar Sirohi</a:t>
            </a:r>
            <a:endParaRPr sz="18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April 12, 2026</a:t>
            </a:r>
            <a:endParaRPr sz="18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Background - Rising Cyber Threats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94" name="Google Shape;94;p2"/>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95" name="Google Shape;95;p2"/>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96" name="Google Shape;96;p2" descr="USD 4c Logo reverse.ai"/>
          <p:cNvPicPr preferRelativeResize="0"/>
          <p:nvPr/>
        </p:nvPicPr>
        <p:blipFill rotWithShape="1">
          <a:blip r:embed="rId3">
            <a:alphaModFix/>
          </a:blip>
          <a:srcRect/>
          <a:stretch/>
        </p:blipFill>
        <p:spPr>
          <a:xfrm>
            <a:off x="9059333" y="145905"/>
            <a:ext cx="839368" cy="745402"/>
          </a:xfrm>
          <a:prstGeom prst="rect">
            <a:avLst/>
          </a:prstGeom>
          <a:noFill/>
          <a:ln>
            <a:noFill/>
          </a:ln>
        </p:spPr>
      </p:pic>
      <p:sp>
        <p:nvSpPr>
          <p:cNvPr id="97" name="Google Shape;97;p2"/>
          <p:cNvSpPr txBox="1"/>
          <p:nvPr/>
        </p:nvSpPr>
        <p:spPr>
          <a:xfrm>
            <a:off x="2095150" y="1582379"/>
            <a:ext cx="8001600" cy="440220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Rapid increase in global </a:t>
            </a:r>
            <a:r>
              <a:rPr lang="en-US" sz="2000" b="1" i="0" u="none" strike="noStrike" cap="none">
                <a:solidFill>
                  <a:schemeClr val="dk1"/>
                </a:solidFill>
              </a:rPr>
              <a:t>cybersecurity </a:t>
            </a:r>
            <a:r>
              <a:rPr lang="en-US" sz="2000" b="0" i="0" u="none" strike="noStrike" cap="none">
                <a:solidFill>
                  <a:schemeClr val="dk1"/>
                </a:solidFill>
                <a:latin typeface="Arial"/>
                <a:ea typeface="Arial"/>
                <a:cs typeface="Arial"/>
                <a:sym typeface="Arial"/>
              </a:rPr>
              <a:t>threats</a:t>
            </a:r>
            <a:endParaRPr sz="2000" b="0" i="0" u="none" strike="noStrike" cap="none">
              <a:solidFill>
                <a:schemeClr val="dk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Attack occurs every </a:t>
            </a:r>
            <a:r>
              <a:rPr lang="en-US" sz="2000" b="1" i="0" u="none" strike="noStrike" cap="none">
                <a:solidFill>
                  <a:schemeClr val="dk1"/>
                </a:solidFill>
              </a:rPr>
              <a:t>~3 seconds</a:t>
            </a:r>
            <a:endParaRPr sz="2000" b="1" i="0" u="none" strike="noStrike" cap="none">
              <a:solidFill>
                <a:schemeClr val="dk1"/>
              </a:solidFill>
            </a:endParaRPr>
          </a:p>
          <a:p>
            <a:pPr marL="285750" marR="0" lvl="0" indent="-28575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Major threats include:</a:t>
            </a:r>
            <a:endParaRPr sz="2000" b="0" i="0" u="none" strike="noStrike" cap="none">
              <a:solidFill>
                <a:schemeClr val="dk1"/>
              </a:solidFill>
              <a:latin typeface="Arial"/>
              <a:ea typeface="Arial"/>
              <a:cs typeface="Arial"/>
              <a:sym typeface="Arial"/>
            </a:endParaRPr>
          </a:p>
          <a:p>
            <a:pPr marL="914400" marR="0" lvl="1" indent="-35560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Data breaches</a:t>
            </a:r>
            <a:endParaRPr sz="2000" b="0" i="0" u="none" strike="noStrike" cap="none">
              <a:solidFill>
                <a:schemeClr val="dk1"/>
              </a:solidFill>
              <a:latin typeface="Arial"/>
              <a:ea typeface="Arial"/>
              <a:cs typeface="Arial"/>
              <a:sym typeface="Arial"/>
            </a:endParaRPr>
          </a:p>
          <a:p>
            <a:pPr marL="914400" marR="0" lvl="1" indent="-35560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Critical infrastructure attacks</a:t>
            </a:r>
            <a:endParaRPr sz="2000" b="0" i="0" u="none" strike="noStrike" cap="none">
              <a:solidFill>
                <a:schemeClr val="dk1"/>
              </a:solidFill>
              <a:latin typeface="Arial"/>
              <a:ea typeface="Arial"/>
              <a:cs typeface="Arial"/>
              <a:sym typeface="Arial"/>
            </a:endParaRPr>
          </a:p>
          <a:p>
            <a:pPr marL="914400" marR="0" lvl="1" indent="-35560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Cyber intelligence</a:t>
            </a:r>
            <a:endParaRPr sz="2000" b="0" i="0" u="none" strike="noStrike" cap="none">
              <a:solidFill>
                <a:schemeClr val="dk1"/>
              </a:solidFill>
              <a:latin typeface="Arial"/>
              <a:ea typeface="Arial"/>
              <a:cs typeface="Arial"/>
              <a:sym typeface="Arial"/>
            </a:endParaRPr>
          </a:p>
          <a:p>
            <a:pPr marL="457200" marR="0" lvl="0" indent="-35560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Real-world incidents:</a:t>
            </a:r>
            <a:endParaRPr sz="2000" b="0" i="0" u="none" strike="noStrike" cap="none">
              <a:solidFill>
                <a:schemeClr val="dk1"/>
              </a:solidFill>
              <a:latin typeface="Arial"/>
              <a:ea typeface="Arial"/>
              <a:cs typeface="Arial"/>
              <a:sym typeface="Arial"/>
            </a:endParaRPr>
          </a:p>
          <a:p>
            <a:pPr marL="914400" marR="0" lvl="1" indent="-35560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815 million Indian records leaked (2023)</a:t>
            </a:r>
            <a:endParaRPr sz="2000" b="0" i="0" u="none" strike="noStrike" cap="none">
              <a:solidFill>
                <a:schemeClr val="dk1"/>
              </a:solidFill>
              <a:latin typeface="Arial"/>
              <a:ea typeface="Arial"/>
              <a:cs typeface="Arial"/>
              <a:sym typeface="Arial"/>
            </a:endParaRPr>
          </a:p>
          <a:p>
            <a:pPr marL="914400" marR="0" lvl="1" indent="-35560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1.5 billion records exposed due to weak security</a:t>
            </a:r>
            <a:endParaRPr sz="2000" b="0" i="0" u="none" strike="noStrike" cap="none">
              <a:solidFill>
                <a:schemeClr val="dk1"/>
              </a:solidFill>
              <a:latin typeface="Arial"/>
              <a:ea typeface="Arial"/>
              <a:cs typeface="Arial"/>
              <a:sym typeface="Arial"/>
            </a:endParaRPr>
          </a:p>
          <a:p>
            <a:pPr marL="457200" marR="0" lvl="0" indent="-35560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Economic impact:</a:t>
            </a:r>
            <a:endParaRPr sz="2000" b="0" i="0" u="none" strike="noStrike" cap="none">
              <a:solidFill>
                <a:schemeClr val="dk1"/>
              </a:solidFill>
              <a:latin typeface="Arial"/>
              <a:ea typeface="Arial"/>
              <a:cs typeface="Arial"/>
              <a:sym typeface="Arial"/>
            </a:endParaRPr>
          </a:p>
          <a:p>
            <a:pPr marL="914400" marR="0" lvl="1" indent="-35560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$9.22 trillion (2024)</a:t>
            </a:r>
            <a:endParaRPr sz="2000" b="0" i="0" u="none" strike="noStrike" cap="none">
              <a:solidFill>
                <a:schemeClr val="dk1"/>
              </a:solidFill>
              <a:latin typeface="Arial"/>
              <a:ea typeface="Arial"/>
              <a:cs typeface="Arial"/>
              <a:sym typeface="Arial"/>
            </a:endParaRPr>
          </a:p>
          <a:p>
            <a:pPr marL="914400" marR="0" lvl="1" indent="-355600" algn="just"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Projected $13.82 trillion by 2028</a:t>
            </a:r>
            <a:endParaRPr sz="2000" b="1" i="0" u="none" strike="noStrike" cap="none">
              <a:solidFill>
                <a:schemeClr val="dk1"/>
              </a:solidFill>
              <a:latin typeface="Arial"/>
              <a:ea typeface="Arial"/>
              <a:cs typeface="Arial"/>
              <a:sym typeface="Arial"/>
            </a:endParaRPr>
          </a:p>
          <a:p>
            <a:pPr marL="457200" marR="0" lvl="0" indent="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285750" marR="0" lvl="0" indent="-171450" algn="just" rtl="0">
              <a:lnSpc>
                <a:spcPct val="100000"/>
              </a:lnSpc>
              <a:spcBef>
                <a:spcPts val="0"/>
              </a:spcBef>
              <a:spcAft>
                <a:spcPts val="0"/>
              </a:spcAft>
              <a:buClr>
                <a:schemeClr val="dk1"/>
              </a:buClr>
              <a:buSzPts val="1800"/>
              <a:buFont typeface="Noto Sans Symbols"/>
              <a:buNone/>
            </a:pP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3d4a92b9079_1_3"/>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Legacy Constraints vs Modern Requirements</a:t>
            </a:r>
            <a:endParaRPr sz="1600" b="1" i="0" u="none" strike="noStrike" cap="none">
              <a:solidFill>
                <a:schemeClr val="lt1"/>
              </a:solidFill>
              <a:latin typeface="Arial Black"/>
              <a:ea typeface="Arial Black"/>
              <a:cs typeface="Arial Black"/>
              <a:sym typeface="Arial Black"/>
            </a:endParaRPr>
          </a:p>
        </p:txBody>
      </p:sp>
      <p:sp>
        <p:nvSpPr>
          <p:cNvPr id="103" name="Google Shape;103;g3d4a92b9079_1_3"/>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04" name="Google Shape;104;g3d4a92b9079_1_3"/>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05" name="Google Shape;105;g3d4a92b9079_1_3"/>
          <p:cNvSpPr txBox="1"/>
          <p:nvPr/>
        </p:nvSpPr>
        <p:spPr>
          <a:xfrm>
            <a:off x="2095150" y="1582379"/>
            <a:ext cx="8001600" cy="37866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latin typeface="Arial"/>
                <a:ea typeface="Arial"/>
                <a:cs typeface="Arial"/>
                <a:sym typeface="Arial"/>
              </a:rPr>
              <a:t>Why Traditional Firewalls Fail</a:t>
            </a:r>
            <a:endParaRPr sz="2000" b="1"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Cannot prevent user-driven attacks (e.g., phishing clicks)</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Encrypted traffic (HTTPS) hides malicious payloads</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Limited to external traffic monitoring</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Dependence on signature-based detection</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Vulnerable to misconfiguration</a:t>
            </a:r>
            <a:endParaRPr sz="2000" b="1"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latin typeface="Arial"/>
                <a:ea typeface="Arial"/>
                <a:cs typeface="Arial"/>
                <a:sym typeface="Arial"/>
              </a:rPr>
              <a:t>Need for Advanced Cybersecurity Solutions</a:t>
            </a:r>
            <a:endParaRPr sz="2000" b="1"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Traditional systems are not adaptive</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Unable to detect zero-day attacks</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Increasing data volume requires automation</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Need for intelligent threat detection</a:t>
            </a:r>
            <a:endParaRPr sz="2000" b="0" i="0" u="none" strike="noStrike" cap="none">
              <a:solidFill>
                <a:schemeClr val="dk1"/>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Noto Sans Symbols"/>
              <a:buNone/>
            </a:pP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3d4a92b9079_1_22"/>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Role of Machine Learning in Cybersecurity</a:t>
            </a:r>
            <a:endParaRPr sz="1600" b="1" i="0" u="none" strike="noStrike" cap="none">
              <a:solidFill>
                <a:schemeClr val="lt1"/>
              </a:solidFill>
              <a:latin typeface="Arial Black"/>
              <a:ea typeface="Arial Black"/>
              <a:cs typeface="Arial Black"/>
              <a:sym typeface="Arial Black"/>
            </a:endParaRPr>
          </a:p>
        </p:txBody>
      </p:sp>
      <p:sp>
        <p:nvSpPr>
          <p:cNvPr id="111" name="Google Shape;111;g3d4a92b9079_1_22"/>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12" name="Google Shape;112;g3d4a92b9079_1_22"/>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13" name="Google Shape;113;g3d4a92b9079_1_22"/>
          <p:cNvSpPr txBox="1"/>
          <p:nvPr/>
        </p:nvSpPr>
        <p:spPr>
          <a:xfrm>
            <a:off x="2095150" y="1582379"/>
            <a:ext cx="8001600" cy="4094400"/>
          </a:xfrm>
          <a:prstGeom prst="rect">
            <a:avLst/>
          </a:prstGeom>
          <a:noFill/>
          <a:ln>
            <a:noFill/>
          </a:ln>
        </p:spPr>
        <p:txBody>
          <a:bodyPr spcFirstLastPara="1" wrap="square" lIns="91425" tIns="45700" rIns="91425" bIns="45700" anchor="t" anchorCtr="0">
            <a:spAutoFit/>
          </a:bodyPr>
          <a:lstStyle/>
          <a:p>
            <a:pPr marL="457200" marR="0" lvl="0"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Machine Learning transforms cybersecurity from a static barrier into an autonomous, evolving ecosystem</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latin typeface="Arial"/>
                <a:ea typeface="Arial"/>
                <a:cs typeface="Arial"/>
                <a:sym typeface="Arial"/>
              </a:rPr>
              <a:t>Behavioral Detection</a:t>
            </a:r>
            <a:r>
              <a:rPr lang="en-US" sz="2000" b="0" i="0" u="none" strike="noStrike" cap="none">
                <a:solidFill>
                  <a:schemeClr val="dk1"/>
                </a:solidFill>
                <a:latin typeface="Arial"/>
                <a:ea typeface="Arial"/>
                <a:cs typeface="Arial"/>
                <a:sym typeface="Arial"/>
              </a:rPr>
              <a:t>: Identifies unknown and evolving attack patterns.</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latin typeface="Arial"/>
                <a:ea typeface="Arial"/>
                <a:cs typeface="Arial"/>
                <a:sym typeface="Arial"/>
              </a:rPr>
              <a:t>Automated Scalability</a:t>
            </a:r>
            <a:r>
              <a:rPr lang="en-US" sz="2000" b="0" i="0" u="none" strike="noStrike" cap="none">
                <a:solidFill>
                  <a:schemeClr val="dk1"/>
                </a:solidFill>
                <a:latin typeface="Arial"/>
                <a:ea typeface="Arial"/>
                <a:cs typeface="Arial"/>
                <a:sym typeface="Arial"/>
              </a:rPr>
              <a:t>: Processes massive data volumes in real-time.</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latin typeface="Arial"/>
                <a:ea typeface="Arial"/>
                <a:cs typeface="Arial"/>
                <a:sym typeface="Arial"/>
              </a:rPr>
              <a:t>Dynamic Adaptation</a:t>
            </a:r>
            <a:r>
              <a:rPr lang="en-US" sz="2000" b="0" i="0" u="none" strike="noStrike" cap="none">
                <a:solidFill>
                  <a:schemeClr val="dk1"/>
                </a:solidFill>
                <a:latin typeface="Arial"/>
                <a:ea typeface="Arial"/>
                <a:cs typeface="Arial"/>
                <a:sym typeface="Arial"/>
              </a:rPr>
              <a:t>: Adjusts automatically to shifting threat landscapes.</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latin typeface="Arial"/>
                <a:ea typeface="Arial"/>
                <a:cs typeface="Arial"/>
                <a:sym typeface="Arial"/>
              </a:rPr>
              <a:t>Intelligent Response</a:t>
            </a:r>
            <a:r>
              <a:rPr lang="en-US" sz="2000" b="0" i="0" u="none" strike="noStrike" cap="none">
                <a:solidFill>
                  <a:schemeClr val="dk1"/>
                </a:solidFill>
                <a:latin typeface="Arial"/>
                <a:ea typeface="Arial"/>
                <a:cs typeface="Arial"/>
                <a:sym typeface="Arial"/>
              </a:rPr>
              <a:t>: Proactive identification of anomalies before breach.</a:t>
            </a:r>
            <a:endParaRPr sz="11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Noto Sans Symbols"/>
              <a:buNone/>
            </a:pP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Objective</a:t>
            </a:r>
            <a:endParaRPr sz="1600" b="1" i="0" u="none" strike="noStrike" cap="none">
              <a:solidFill>
                <a:schemeClr val="lt1"/>
              </a:solidFill>
              <a:latin typeface="Arial Black"/>
              <a:ea typeface="Arial Black"/>
              <a:cs typeface="Arial Black"/>
              <a:sym typeface="Arial Black"/>
            </a:endParaRPr>
          </a:p>
        </p:txBody>
      </p:sp>
      <p:sp>
        <p:nvSpPr>
          <p:cNvPr id="119" name="Google Shape;119;p3"/>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20" name="Google Shape;120;p3"/>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21" name="Google Shape;121;p3" descr="USD 4c Logo reverse.ai"/>
          <p:cNvPicPr preferRelativeResize="0"/>
          <p:nvPr/>
        </p:nvPicPr>
        <p:blipFill rotWithShape="1">
          <a:blip r:embed="rId3">
            <a:alphaModFix/>
          </a:blip>
          <a:srcRect/>
          <a:stretch/>
        </p:blipFill>
        <p:spPr>
          <a:xfrm>
            <a:off x="9059333" y="145905"/>
            <a:ext cx="839368" cy="745402"/>
          </a:xfrm>
          <a:prstGeom prst="rect">
            <a:avLst/>
          </a:prstGeom>
          <a:noFill/>
          <a:ln>
            <a:noFill/>
          </a:ln>
        </p:spPr>
      </p:pic>
      <p:sp>
        <p:nvSpPr>
          <p:cNvPr id="122" name="Google Shape;122;p3"/>
          <p:cNvSpPr txBox="1"/>
          <p:nvPr/>
        </p:nvSpPr>
        <p:spPr>
          <a:xfrm>
            <a:off x="2095200" y="1423954"/>
            <a:ext cx="8001600" cy="3478500"/>
          </a:xfrm>
          <a:prstGeom prst="rect">
            <a:avLst/>
          </a:prstGeom>
          <a:noFill/>
          <a:ln>
            <a:noFill/>
          </a:ln>
        </p:spPr>
        <p:txBody>
          <a:bodyPr spcFirstLastPara="1" wrap="square" lIns="91425" tIns="45700" rIns="91425" bIns="45700" anchor="t" anchorCtr="0">
            <a:spAutoFit/>
          </a:bodyPr>
          <a:lstStyle/>
          <a:p>
            <a:pPr marL="742950" marR="0" lvl="1" indent="-2984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Develop a </a:t>
            </a:r>
            <a:r>
              <a:rPr lang="en-US" sz="2000" b="1" i="0" u="none" strike="noStrike" cap="none">
                <a:solidFill>
                  <a:schemeClr val="dk1"/>
                </a:solidFill>
              </a:rPr>
              <a:t>Hybrid Intrusion Detection System (IDS)</a:t>
            </a:r>
            <a:endParaRPr sz="2000" b="1" i="0" u="none" strike="noStrike" cap="none">
              <a:solidFill>
                <a:schemeClr val="dk1"/>
              </a:solidFill>
            </a:endParaRPr>
          </a:p>
          <a:p>
            <a:pPr marL="742950" marR="0" lvl="1" indent="-2984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Detect both:</a:t>
            </a:r>
            <a:endParaRPr sz="2000" b="0" i="0" u="none" strike="noStrike" cap="none">
              <a:solidFill>
                <a:schemeClr val="dk1"/>
              </a:solidFill>
              <a:latin typeface="Arial"/>
              <a:ea typeface="Arial"/>
              <a:cs typeface="Arial"/>
              <a:sym typeface="Arial"/>
            </a:endParaRPr>
          </a:p>
          <a:p>
            <a:pPr marL="1371600" marR="0" lvl="2"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Known attacks (Supervised Learning)</a:t>
            </a:r>
            <a:endParaRPr sz="2000" b="0" i="0" u="none" strike="noStrike" cap="none">
              <a:solidFill>
                <a:schemeClr val="dk1"/>
              </a:solidFill>
              <a:latin typeface="Arial"/>
              <a:ea typeface="Arial"/>
              <a:cs typeface="Arial"/>
              <a:sym typeface="Arial"/>
            </a:endParaRPr>
          </a:p>
          <a:p>
            <a:pPr marL="1371600" marR="0" lvl="2"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Unknown attacks (Unsupervised Learning)</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Improve detection accuracy and generalization</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Reduce false positives and false negatives</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Handle class imbalance in network data</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Enhance detection of rare and zero-day attacks</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Optimize feature selection and model efficiency</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Build a system suitable for real-world deployment</a:t>
            </a:r>
            <a:endParaRPr sz="2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Dataset Summary and Description</a:t>
            </a: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128" name="Google Shape;128;p5"/>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29" name="Google Shape;129;p5"/>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30" name="Google Shape;130;p5"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131" name="Google Shape;131;p5"/>
          <p:cNvSpPr txBox="1"/>
          <p:nvPr/>
        </p:nvSpPr>
        <p:spPr>
          <a:xfrm>
            <a:off x="2018954" y="1552139"/>
            <a:ext cx="8001600" cy="37866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Source: </a:t>
            </a:r>
            <a:r>
              <a:rPr lang="en-US" sz="2000" b="1" i="0" u="none" strike="noStrike" cap="none">
                <a:solidFill>
                  <a:schemeClr val="dk1"/>
                </a:solidFill>
              </a:rPr>
              <a:t>CICIDS2017 (Kaggle)</a:t>
            </a:r>
            <a:endParaRPr sz="2000" b="1" i="0" u="none" strike="noStrike" cap="none">
              <a:solidFill>
                <a:schemeClr val="dk1"/>
              </a:solidFill>
            </a:endParaRPr>
          </a:p>
          <a:p>
            <a:pPr marL="285750" marR="0" lvl="0" indent="-2857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Contains millions of network traffic records</a:t>
            </a:r>
            <a:endParaRPr sz="20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Includes multiple attack types</a:t>
            </a:r>
            <a:endParaRPr sz="20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000"/>
              <a:buFont typeface="Noto Sans Symbols"/>
              <a:buChar char="⮚"/>
            </a:pPr>
            <a:r>
              <a:rPr lang="en-US" sz="2000" b="1" i="0" u="none" strike="noStrike" cap="none">
                <a:solidFill>
                  <a:schemeClr val="dk1"/>
                </a:solidFill>
              </a:rPr>
              <a:t>78 </a:t>
            </a:r>
            <a:r>
              <a:rPr lang="en-US" sz="2000" b="0" i="0" u="none" strike="noStrike" cap="none">
                <a:solidFill>
                  <a:schemeClr val="dk1"/>
                </a:solidFill>
                <a:latin typeface="Arial"/>
                <a:ea typeface="Arial"/>
                <a:cs typeface="Arial"/>
                <a:sym typeface="Arial"/>
              </a:rPr>
              <a:t>network flow features</a:t>
            </a:r>
            <a:endParaRPr sz="20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Used for:</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Training ML models</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Evaluating intrusion detection performance</a:t>
            </a:r>
            <a:endParaRPr sz="20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Modern replacement for KDD’99 dataset</a:t>
            </a:r>
            <a:endParaRPr sz="20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Reflects real-world network traffic</a:t>
            </a:r>
            <a:endParaRPr sz="20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Publicly available benchmark dataset</a:t>
            </a:r>
            <a:endParaRPr sz="20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Generated by:</a:t>
            </a:r>
            <a:endParaRPr sz="2000" b="0" i="0" u="none" strike="noStrike" cap="none">
              <a:solidFill>
                <a:schemeClr val="dk1"/>
              </a:solidFill>
              <a:latin typeface="Arial"/>
              <a:ea typeface="Arial"/>
              <a:cs typeface="Arial"/>
              <a:sym typeface="Arial"/>
            </a:endParaRPr>
          </a:p>
          <a:p>
            <a:pPr marL="914400" marR="0" lvl="1" indent="-35560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Arial"/>
                <a:ea typeface="Arial"/>
                <a:cs typeface="Arial"/>
                <a:sym typeface="Arial"/>
              </a:rPr>
              <a:t>Canadian Institute for Cybersecurity</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d4a92b9079_1_41"/>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Dataset Collection</a:t>
            </a: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137" name="Google Shape;137;g3d4a92b9079_1_41"/>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38" name="Google Shape;138;g3d4a92b9079_1_41"/>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39" name="Google Shape;139;g3d4a92b9079_1_41"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140" name="Google Shape;140;g3d4a92b9079_1_41"/>
          <p:cNvSpPr txBox="1"/>
          <p:nvPr/>
        </p:nvSpPr>
        <p:spPr>
          <a:xfrm>
            <a:off x="2018954" y="1363914"/>
            <a:ext cx="8001600" cy="50796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Environment:</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Realistic Environmnet Setup:</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Attacker and Victim network</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Separated by:</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Firewall and Core switch</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Data sources:</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Network traffic (PCAP) and Host-level logs</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Strategy:</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Data collected over 5 days</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Day 1: Fully benign traffic</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Days 2–5:</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Mixed traffic (benign + attacks)</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Attack types:</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DoS / DDoS</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Brute Force</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Web attacks</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Botnet</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Infiltration</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Data Cleaning/Preparation</a:t>
            </a: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146" name="Google Shape;146;p6"/>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47" name="Google Shape;147;p6"/>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48" name="Google Shape;148;p6"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149" name="Google Shape;149;p6"/>
          <p:cNvSpPr txBox="1"/>
          <p:nvPr/>
        </p:nvSpPr>
        <p:spPr>
          <a:xfrm>
            <a:off x="2095154" y="1305342"/>
            <a:ext cx="8001600" cy="50796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Cleaning Negative Values</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Removed invalid entries</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Replaced remaining with zero to prevent data loss</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Column Consistency Check</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Ensured uniform column names &amp; order</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Prevented incorrect dataset merging</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Handling Infinite Values</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Caused by division errors (e.g., rates)</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Detected and removed to avoid model failure</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Duplicate Column Removal</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Eliminated redundant features</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Improved efficiency and data quality</a:t>
            </a:r>
            <a:endParaRPr sz="1800" b="0" i="0" u="none" strike="noStrike" cap="none">
              <a:solidFill>
                <a:schemeClr val="dk1"/>
              </a:solidFill>
              <a:latin typeface="Arial"/>
              <a:ea typeface="Arial"/>
              <a:cs typeface="Arial"/>
              <a:sym typeface="Arial"/>
            </a:endParaRPr>
          </a:p>
          <a:p>
            <a:pPr marL="457200" marR="0" lvl="0" indent="-34290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Cleaned and structured dataset</a:t>
            </a:r>
            <a:endParaRPr sz="1800" b="1" i="0" u="none" strike="noStrike" cap="none">
              <a:solidFill>
                <a:schemeClr val="dk1"/>
              </a:solidFill>
              <a:latin typeface="Arial"/>
              <a:ea typeface="Arial"/>
              <a:cs typeface="Arial"/>
              <a:sym typeface="Arial"/>
            </a:endParaRPr>
          </a:p>
          <a:p>
            <a:pPr marL="457200" marR="0" lvl="0" indent="-34290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Ready for:</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Feature engineering</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Model training</a:t>
            </a:r>
            <a:endParaRPr sz="1800" b="0" i="0" u="none" strike="noStrike" cap="none">
              <a:solidFill>
                <a:schemeClr val="dk1"/>
              </a:solidFill>
              <a:latin typeface="Arial"/>
              <a:ea typeface="Arial"/>
              <a:cs typeface="Arial"/>
              <a:sym typeface="Arial"/>
            </a:endParaRPr>
          </a:p>
          <a:p>
            <a:pPr marL="457200" marR="0" lvl="0" indent="-3429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Improved data quality</a:t>
            </a:r>
            <a:endParaRPr sz="1800" b="1"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3d4a92b9079_1_56"/>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Challenges – Network Traffic Distribution</a:t>
            </a: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155" name="Google Shape;155;g3d4a92b9079_1_56"/>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56" name="Google Shape;156;g3d4a92b9079_1_56"/>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57" name="Google Shape;157;g3d4a92b9079_1_56"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158" name="Google Shape;158;g3d4a92b9079_1_56"/>
          <p:cNvSpPr txBox="1"/>
          <p:nvPr/>
        </p:nvSpPr>
        <p:spPr>
          <a:xfrm>
            <a:off x="2095154" y="1305342"/>
            <a:ext cx="8001600" cy="34170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Dataset is highly imbalanced</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BENIGN traffic dominates significantly</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Frequent attack types:</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DoS Hulk</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Port Scan</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DDoS</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Rare attack types:</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Heartbleed</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SQL Injection</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Infiltration</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Web Attacks (XSS, Brute Force)</a:t>
            </a:r>
            <a:endParaRPr sz="1800" b="1"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7"/>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Challenges – Network Traffic Distribution</a:t>
            </a: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164" name="Google Shape;164;p7"/>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65" name="Google Shape;165;p7"/>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66" name="Google Shape;166;p7"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167" name="Google Shape;167;p7"/>
          <p:cNvSpPr txBox="1"/>
          <p:nvPr/>
        </p:nvSpPr>
        <p:spPr>
          <a:xfrm>
            <a:off x="2094053" y="1219200"/>
            <a:ext cx="8001692" cy="369332"/>
          </a:xfrm>
          <a:prstGeom prst="rect">
            <a:avLst/>
          </a:prstGeom>
          <a:noFill/>
          <a:ln>
            <a:noFill/>
          </a:ln>
        </p:spPr>
        <p:txBody>
          <a:bodyPr spcFirstLastPara="1" wrap="square" lIns="91425" tIns="45700" rIns="91425" bIns="45700" anchor="t" anchorCtr="0">
            <a:spAutoFit/>
          </a:bodyPr>
          <a:lstStyle/>
          <a:p>
            <a:pPr marL="285750" marR="0" lvl="0"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pic>
        <p:nvPicPr>
          <p:cNvPr id="168" name="Google Shape;168;p7"/>
          <p:cNvPicPr preferRelativeResize="0"/>
          <p:nvPr/>
        </p:nvPicPr>
        <p:blipFill>
          <a:blip r:embed="rId4">
            <a:alphaModFix/>
          </a:blip>
          <a:stretch>
            <a:fillRect/>
          </a:stretch>
        </p:blipFill>
        <p:spPr>
          <a:xfrm>
            <a:off x="2541975" y="1302845"/>
            <a:ext cx="6827072" cy="482708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8"/>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Feature Engineering &amp; Selection</a:t>
            </a: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174" name="Google Shape;174;p8"/>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75" name="Google Shape;175;p8"/>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76" name="Google Shape;176;p8"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177" name="Google Shape;177;p8"/>
          <p:cNvSpPr txBox="1"/>
          <p:nvPr/>
        </p:nvSpPr>
        <p:spPr>
          <a:xfrm>
            <a:off x="2094053" y="1219200"/>
            <a:ext cx="8001692" cy="369332"/>
          </a:xfrm>
          <a:prstGeom prst="rect">
            <a:avLst/>
          </a:prstGeom>
          <a:noFill/>
          <a:ln>
            <a:noFill/>
          </a:ln>
        </p:spPr>
        <p:txBody>
          <a:bodyPr spcFirstLastPara="1" wrap="square" lIns="91425" tIns="45700" rIns="91425" bIns="45700" anchor="t" anchorCtr="0">
            <a:spAutoFit/>
          </a:bodyPr>
          <a:lstStyle/>
          <a:p>
            <a:pPr marL="285750" marR="0" lvl="0"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
        <p:nvSpPr>
          <p:cNvPr id="178" name="Google Shape;178;p8"/>
          <p:cNvSpPr txBox="1"/>
          <p:nvPr/>
        </p:nvSpPr>
        <p:spPr>
          <a:xfrm>
            <a:off x="2095150" y="1305350"/>
            <a:ext cx="8001600" cy="4458103"/>
          </a:xfrm>
          <a:prstGeom prst="rect">
            <a:avLst/>
          </a:prstGeom>
          <a:noFill/>
          <a:ln>
            <a:noFill/>
          </a:ln>
        </p:spPr>
        <p:txBody>
          <a:bodyPr spcFirstLastPara="1" wrap="square" lIns="91425" tIns="45700" rIns="91425" bIns="45700" anchor="t" anchorCtr="0">
            <a:spAutoFit/>
          </a:bodyPr>
          <a:lstStyle/>
          <a:p>
            <a:pPr marL="457200" marR="0" lvl="0" indent="-342900" algn="l" rtl="0">
              <a:lnSpc>
                <a:spcPct val="115000"/>
              </a:lnSpc>
              <a:spcBef>
                <a:spcPts val="120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Correlation-based Feature Selection</a:t>
            </a:r>
            <a:endParaRPr sz="1800" b="1" i="0" u="none" strike="noStrike" cap="none" dirty="0">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dirty="0">
                <a:solidFill>
                  <a:schemeClr val="dk1"/>
                </a:solidFill>
                <a:latin typeface="Arial"/>
                <a:ea typeface="Arial"/>
                <a:cs typeface="Arial"/>
                <a:sym typeface="Arial"/>
              </a:rPr>
              <a:t>Focused on numerical features only</a:t>
            </a:r>
            <a:endParaRPr sz="1800" b="0" i="0" u="none" strike="noStrike" cap="none" dirty="0">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dirty="0">
                <a:solidFill>
                  <a:schemeClr val="dk1"/>
                </a:solidFill>
                <a:latin typeface="Arial"/>
                <a:ea typeface="Arial"/>
                <a:cs typeface="Arial"/>
                <a:sym typeface="Arial"/>
              </a:rPr>
              <a:t>Computed correlation matrix</a:t>
            </a:r>
            <a:endParaRPr sz="1800" b="0" i="0" u="none" strike="noStrike" cap="none" dirty="0">
              <a:solidFill>
                <a:schemeClr val="dk1"/>
              </a:solidFill>
              <a:latin typeface="Arial"/>
              <a:ea typeface="Arial"/>
              <a:cs typeface="Arial"/>
              <a:sym typeface="Arial"/>
            </a:endParaRPr>
          </a:p>
          <a:p>
            <a:pPr marL="457200" marR="0" lvl="0" indent="-342900" algn="l" rtl="0">
              <a:lnSpc>
                <a:spcPct val="115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Redundancy Removal</a:t>
            </a:r>
            <a:endParaRPr sz="1800" b="1" i="0" u="none" strike="noStrike" cap="none" dirty="0">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dirty="0">
                <a:solidFill>
                  <a:schemeClr val="dk1"/>
                </a:solidFill>
                <a:latin typeface="Arial"/>
                <a:ea typeface="Arial"/>
                <a:cs typeface="Arial"/>
                <a:sym typeface="Arial"/>
              </a:rPr>
              <a:t>Analyzed upper triangle to avoid duplication</a:t>
            </a:r>
            <a:endParaRPr sz="1800" b="0" i="0" u="none" strike="noStrike" cap="none" dirty="0">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dirty="0">
                <a:solidFill>
                  <a:schemeClr val="dk1"/>
                </a:solidFill>
                <a:latin typeface="Arial"/>
                <a:ea typeface="Arial"/>
                <a:cs typeface="Arial"/>
                <a:sym typeface="Arial"/>
              </a:rPr>
              <a:t>Threshold set to 0.95 and identified highly correlated features</a:t>
            </a:r>
            <a:endParaRPr sz="1800" b="0" i="0" u="none" strike="noStrike" cap="none" dirty="0">
              <a:solidFill>
                <a:schemeClr val="dk1"/>
              </a:solidFill>
              <a:latin typeface="Arial"/>
              <a:ea typeface="Arial"/>
              <a:cs typeface="Arial"/>
              <a:sym typeface="Arial"/>
            </a:endParaRPr>
          </a:p>
          <a:p>
            <a:pPr marL="457200" marR="0" lvl="0" indent="-342900" algn="l" rtl="0">
              <a:lnSpc>
                <a:spcPct val="115000"/>
              </a:lnSpc>
              <a:spcBef>
                <a:spcPts val="0"/>
              </a:spcBef>
              <a:spcAft>
                <a:spcPts val="0"/>
              </a:spcAft>
              <a:buClr>
                <a:schemeClr val="dk1"/>
              </a:buClr>
              <a:buSzPts val="1800"/>
              <a:buFont typeface="Arial"/>
              <a:buChar char="⮚"/>
            </a:pPr>
            <a:r>
              <a:rPr lang="en-US" sz="1800" b="1" dirty="0">
                <a:solidFill>
                  <a:schemeClr val="dk1"/>
                </a:solidFill>
              </a:rPr>
              <a:t>Correlation Analysis</a:t>
            </a:r>
            <a:r>
              <a:rPr lang="en-US" sz="1800" b="1" i="0" u="none" strike="noStrike" cap="none" dirty="0">
                <a:solidFill>
                  <a:schemeClr val="dk1"/>
                </a:solidFill>
                <a:latin typeface="Arial"/>
                <a:ea typeface="Arial"/>
                <a:cs typeface="Arial"/>
                <a:sym typeface="Arial"/>
              </a:rPr>
              <a:t>:</a:t>
            </a:r>
            <a:endParaRPr sz="1800" b="1" i="0" u="none" strike="noStrike" cap="none" dirty="0">
              <a:solidFill>
                <a:schemeClr val="dk1"/>
              </a:solidFill>
              <a:latin typeface="Arial"/>
              <a:ea typeface="Arial"/>
              <a:cs typeface="Arial"/>
              <a:sym typeface="Arial"/>
            </a:endParaRPr>
          </a:p>
          <a:p>
            <a:pPr marL="914400" marR="0" lvl="1" indent="-342900" algn="l" rtl="0">
              <a:lnSpc>
                <a:spcPct val="115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Correlation matrix used to analyze feature relationships</a:t>
            </a:r>
            <a:endParaRPr sz="1800" b="0" i="0" u="none" strike="noStrike" cap="none" dirty="0">
              <a:solidFill>
                <a:schemeClr val="dk1"/>
              </a:solidFill>
              <a:latin typeface="Arial"/>
              <a:ea typeface="Arial"/>
              <a:cs typeface="Arial"/>
              <a:sym typeface="Arial"/>
            </a:endParaRPr>
          </a:p>
          <a:p>
            <a:pPr marL="914400" marR="0" lvl="1" indent="-342900" algn="l" rtl="0">
              <a:lnSpc>
                <a:spcPct val="115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Strong correlations identified (≥ 0.95 threshold)</a:t>
            </a:r>
            <a:endParaRPr sz="1800" b="0" i="0" u="none" strike="noStrike" cap="none" dirty="0">
              <a:solidFill>
                <a:schemeClr val="dk1"/>
              </a:solidFill>
              <a:latin typeface="Arial"/>
              <a:ea typeface="Arial"/>
              <a:cs typeface="Arial"/>
              <a:sym typeface="Arial"/>
            </a:endParaRPr>
          </a:p>
          <a:p>
            <a:pPr marL="914400" marR="0" lvl="1" indent="-342900" algn="l" rtl="0">
              <a:lnSpc>
                <a:spcPct val="115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Red blocks indicate highly correlated feature pairs</a:t>
            </a:r>
            <a:endParaRPr sz="1800" b="0" i="0" u="none" strike="noStrike" cap="none" dirty="0">
              <a:solidFill>
                <a:schemeClr val="dk1"/>
              </a:solidFill>
              <a:latin typeface="Arial"/>
              <a:ea typeface="Arial"/>
              <a:cs typeface="Arial"/>
              <a:sym typeface="Arial"/>
            </a:endParaRPr>
          </a:p>
          <a:p>
            <a:pPr marL="914400" marR="0" lvl="1" indent="-342900" algn="l" rtl="0">
              <a:lnSpc>
                <a:spcPct val="115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Significant feature redundancy observed</a:t>
            </a:r>
            <a:endParaRPr sz="1800" b="0" i="0" u="none" strike="noStrike" cap="none" dirty="0">
              <a:solidFill>
                <a:schemeClr val="dk1"/>
              </a:solidFill>
              <a:latin typeface="Arial"/>
              <a:ea typeface="Arial"/>
              <a:cs typeface="Arial"/>
              <a:sym typeface="Arial"/>
            </a:endParaRPr>
          </a:p>
          <a:p>
            <a:pPr marL="457200" marR="0" lvl="1" indent="0" algn="l" rtl="0">
              <a:lnSpc>
                <a:spcPct val="100000"/>
              </a:lnSpc>
              <a:spcBef>
                <a:spcPts val="1200"/>
              </a:spcBef>
              <a:spcAft>
                <a:spcPts val="0"/>
              </a:spcAft>
              <a:buClr>
                <a:schemeClr val="dk1"/>
              </a:buClr>
              <a:buSzPts val="1800"/>
              <a:buFont typeface="Arial"/>
              <a:buNone/>
            </a:pPr>
            <a:endParaRPr sz="1800" b="0" i="0" u="none" strike="noStrike" cap="none" dirty="0">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9"/>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Correlation Analysis – Feature Redundancy</a:t>
            </a:r>
            <a:endParaRPr sz="14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184" name="Google Shape;184;p9"/>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85" name="Google Shape;185;p9"/>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86" name="Google Shape;186;p9"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187" name="Google Shape;187;p9"/>
          <p:cNvSpPr txBox="1"/>
          <p:nvPr/>
        </p:nvSpPr>
        <p:spPr>
          <a:xfrm>
            <a:off x="2094053" y="1219200"/>
            <a:ext cx="8001692" cy="369332"/>
          </a:xfrm>
          <a:prstGeom prst="rect">
            <a:avLst/>
          </a:prstGeom>
          <a:noFill/>
          <a:ln>
            <a:noFill/>
          </a:ln>
        </p:spPr>
        <p:txBody>
          <a:bodyPr spcFirstLastPara="1" wrap="square" lIns="91425" tIns="45700" rIns="91425" bIns="45700" anchor="t" anchorCtr="0">
            <a:spAutoFit/>
          </a:bodyPr>
          <a:lstStyle/>
          <a:p>
            <a:pPr marL="285750" marR="0" lvl="0"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
        <p:nvSpPr>
          <p:cNvPr id="188" name="Google Shape;188;p9"/>
          <p:cNvSpPr txBox="1"/>
          <p:nvPr/>
        </p:nvSpPr>
        <p:spPr>
          <a:xfrm>
            <a:off x="2095154" y="1305342"/>
            <a:ext cx="8001600" cy="4346700"/>
          </a:xfrm>
          <a:prstGeom prst="rect">
            <a:avLst/>
          </a:prstGeom>
          <a:noFill/>
          <a:ln>
            <a:noFill/>
          </a:ln>
        </p:spPr>
        <p:txBody>
          <a:bodyPr spcFirstLastPara="1" wrap="square" lIns="91425" tIns="45700" rIns="91425" bIns="45700" anchor="t" anchorCtr="0">
            <a:spAutoFit/>
          </a:bodyPr>
          <a:lstStyle/>
          <a:p>
            <a:pPr marL="457200" marR="0" lvl="0" indent="-342900" algn="l" rtl="0">
              <a:lnSpc>
                <a:spcPct val="115000"/>
              </a:lnSpc>
              <a:spcBef>
                <a:spcPts val="120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Observation:</a:t>
            </a:r>
            <a:endParaRPr sz="1800" b="1" i="0" u="none" strike="noStrike" cap="none">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a:solidFill>
                  <a:schemeClr val="dk1"/>
                </a:solidFill>
                <a:latin typeface="Arial"/>
                <a:ea typeface="Arial"/>
                <a:cs typeface="Arial"/>
                <a:sym typeface="Arial"/>
              </a:rPr>
              <a:t>Many features were highly correlated</a:t>
            </a:r>
            <a:endParaRPr sz="1800" b="0" i="0" u="none" strike="noStrike" cap="none">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a:solidFill>
                  <a:schemeClr val="dk1"/>
                </a:solidFill>
                <a:latin typeface="Arial"/>
                <a:ea typeface="Arial"/>
                <a:cs typeface="Arial"/>
                <a:sym typeface="Arial"/>
              </a:rPr>
              <a:t>Indicates redundancy in dataset</a:t>
            </a:r>
            <a:endParaRPr sz="1800" b="0" i="0" u="none" strike="noStrike" cap="none">
              <a:solidFill>
                <a:schemeClr val="dk1"/>
              </a:solidFill>
              <a:latin typeface="Arial"/>
              <a:ea typeface="Arial"/>
              <a:cs typeface="Arial"/>
              <a:sym typeface="Arial"/>
            </a:endParaRPr>
          </a:p>
          <a:p>
            <a:pPr marL="457200" marR="0" lvl="0" indent="-342900" algn="l" rtl="0">
              <a:lnSpc>
                <a:spcPct val="115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Impact of Removing Redundant Features:</a:t>
            </a:r>
            <a:endParaRPr sz="1800" b="1" i="0" u="none" strike="noStrike" cap="none">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a:solidFill>
                  <a:schemeClr val="dk1"/>
                </a:solidFill>
                <a:latin typeface="Arial"/>
                <a:ea typeface="Arial"/>
                <a:cs typeface="Arial"/>
                <a:sym typeface="Arial"/>
              </a:rPr>
              <a:t>Reduced dimensionality</a:t>
            </a:r>
            <a:endParaRPr sz="1800" b="0" i="0" u="none" strike="noStrike" cap="none">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a:solidFill>
                  <a:schemeClr val="dk1"/>
                </a:solidFill>
                <a:latin typeface="Arial"/>
                <a:ea typeface="Arial"/>
                <a:cs typeface="Arial"/>
                <a:sym typeface="Arial"/>
              </a:rPr>
              <a:t>Improved training efficiency</a:t>
            </a:r>
            <a:endParaRPr sz="1800" b="0" i="0" u="none" strike="noStrike" cap="none">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a:solidFill>
                  <a:schemeClr val="dk1"/>
                </a:solidFill>
                <a:latin typeface="Arial"/>
                <a:ea typeface="Arial"/>
                <a:cs typeface="Arial"/>
                <a:sym typeface="Arial"/>
              </a:rPr>
              <a:t>Lower risk of overfitting</a:t>
            </a:r>
            <a:endParaRPr sz="1800" b="0" i="0" u="none" strike="noStrike" cap="none">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a:solidFill>
                  <a:schemeClr val="dk1"/>
                </a:solidFill>
                <a:latin typeface="Arial"/>
                <a:ea typeface="Arial"/>
                <a:cs typeface="Arial"/>
                <a:sym typeface="Arial"/>
              </a:rPr>
              <a:t>Enhanced model interpretability</a:t>
            </a:r>
            <a:endParaRPr sz="1800" b="0" i="0" u="none" strike="noStrike" cap="none">
              <a:solidFill>
                <a:schemeClr val="dk1"/>
              </a:solidFill>
              <a:latin typeface="Arial"/>
              <a:ea typeface="Arial"/>
              <a:cs typeface="Arial"/>
              <a:sym typeface="Arial"/>
            </a:endParaRPr>
          </a:p>
          <a:p>
            <a:pPr marL="457200" marR="0" lvl="0" indent="-342900" algn="l" rtl="0">
              <a:lnSpc>
                <a:spcPct val="115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Outcome</a:t>
            </a:r>
            <a:r>
              <a:rPr lang="en-US" sz="1800" b="0" i="0" u="none" strike="noStrike" cap="none">
                <a:solidFill>
                  <a:schemeClr val="dk1"/>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a:solidFill>
                  <a:schemeClr val="dk1"/>
                </a:solidFill>
                <a:latin typeface="Arial"/>
                <a:ea typeface="Arial"/>
                <a:cs typeface="Arial"/>
                <a:sym typeface="Arial"/>
              </a:rPr>
              <a:t>Efficient feature space reduction</a:t>
            </a:r>
            <a:endParaRPr sz="1800" b="0" i="0" u="none" strike="noStrike" cap="none">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a:solidFill>
                  <a:schemeClr val="dk1"/>
                </a:solidFill>
                <a:latin typeface="Arial"/>
                <a:ea typeface="Arial"/>
                <a:cs typeface="Arial"/>
                <a:sym typeface="Arial"/>
              </a:rPr>
              <a:t>Retained most informative features</a:t>
            </a:r>
            <a:endParaRPr sz="1800" b="0" i="0" u="none" strike="noStrike" cap="none">
              <a:solidFill>
                <a:schemeClr val="dk1"/>
              </a:solidFill>
              <a:latin typeface="Arial"/>
              <a:ea typeface="Arial"/>
              <a:cs typeface="Arial"/>
              <a:sym typeface="Arial"/>
            </a:endParaRPr>
          </a:p>
          <a:p>
            <a:pPr marL="914400" marR="0" lvl="1" indent="-317500" algn="l" rtl="0">
              <a:lnSpc>
                <a:spcPct val="115000"/>
              </a:lnSpc>
              <a:spcBef>
                <a:spcPts val="0"/>
              </a:spcBef>
              <a:spcAft>
                <a:spcPts val="0"/>
              </a:spcAft>
              <a:buClr>
                <a:schemeClr val="dk1"/>
              </a:buClr>
              <a:buSzPts val="1400"/>
              <a:buFont typeface="Arial"/>
              <a:buChar char="❖"/>
            </a:pPr>
            <a:r>
              <a:rPr lang="en-US" sz="1800" b="0" i="0" u="none" strike="noStrike" cap="none">
                <a:solidFill>
                  <a:schemeClr val="dk1"/>
                </a:solidFill>
                <a:latin typeface="Arial"/>
                <a:ea typeface="Arial"/>
                <a:cs typeface="Arial"/>
                <a:sym typeface="Arial"/>
              </a:rPr>
              <a:t>Improved dataset quality for model training</a:t>
            </a:r>
            <a:endParaRPr sz="1800" b="1" i="0" u="none" strike="noStrike" cap="none">
              <a:solidFill>
                <a:schemeClr val="dk1"/>
              </a:solidFill>
              <a:latin typeface="Arial"/>
              <a:ea typeface="Arial"/>
              <a:cs typeface="Arial"/>
              <a:sym typeface="Arial"/>
            </a:endParaRPr>
          </a:p>
          <a:p>
            <a:pPr marL="457200" marR="0" lvl="1" indent="0" algn="l" rtl="0">
              <a:lnSpc>
                <a:spcPct val="100000"/>
              </a:lnSpc>
              <a:spcBef>
                <a:spcPts val="120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d4a92b9079_1_91"/>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Correlation Heatmap</a:t>
            </a:r>
            <a:endParaRPr sz="14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chemeClr val="lt1"/>
              </a:solidFill>
              <a:latin typeface="Arial Black"/>
              <a:ea typeface="Arial Black"/>
              <a:cs typeface="Arial Black"/>
              <a:sym typeface="Arial Black"/>
            </a:endParaRPr>
          </a:p>
        </p:txBody>
      </p:sp>
      <p:sp>
        <p:nvSpPr>
          <p:cNvPr id="194" name="Google Shape;194;g3d4a92b9079_1_91"/>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195" name="Google Shape;195;g3d4a92b9079_1_91"/>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196" name="Google Shape;196;g3d4a92b9079_1_91"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197" name="Google Shape;197;g3d4a92b9079_1_91"/>
          <p:cNvSpPr txBox="1"/>
          <p:nvPr/>
        </p:nvSpPr>
        <p:spPr>
          <a:xfrm>
            <a:off x="2094053" y="1219200"/>
            <a:ext cx="8001600" cy="369300"/>
          </a:xfrm>
          <a:prstGeom prst="rect">
            <a:avLst/>
          </a:prstGeom>
          <a:noFill/>
          <a:ln>
            <a:noFill/>
          </a:ln>
        </p:spPr>
        <p:txBody>
          <a:bodyPr spcFirstLastPara="1" wrap="square" lIns="91425" tIns="45700" rIns="91425" bIns="45700" anchor="t" anchorCtr="0">
            <a:spAutoFit/>
          </a:bodyPr>
          <a:lstStyle/>
          <a:p>
            <a:pPr marL="285750" marR="0" lvl="0"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
        <p:nvSpPr>
          <p:cNvPr id="198" name="Google Shape;198;g3d4a92b9079_1_91"/>
          <p:cNvSpPr txBox="1"/>
          <p:nvPr/>
        </p:nvSpPr>
        <p:spPr>
          <a:xfrm>
            <a:off x="2095154" y="1305342"/>
            <a:ext cx="8001600" cy="369300"/>
          </a:xfrm>
          <a:prstGeom prst="rect">
            <a:avLst/>
          </a:prstGeom>
          <a:noFill/>
          <a:ln>
            <a:noFill/>
          </a:ln>
        </p:spPr>
        <p:txBody>
          <a:bodyPr spcFirstLastPara="1" wrap="square" lIns="91425" tIns="45700" rIns="91425" bIns="45700" anchor="t" anchorCtr="0">
            <a:spAutoFit/>
          </a:bodyPr>
          <a:lstStyle/>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99" name="Google Shape;199;g3d4a92b9079_1_91"/>
          <p:cNvPicPr preferRelativeResize="0"/>
          <p:nvPr/>
        </p:nvPicPr>
        <p:blipFill>
          <a:blip r:embed="rId4">
            <a:alphaModFix/>
          </a:blip>
          <a:stretch>
            <a:fillRect/>
          </a:stretch>
        </p:blipFill>
        <p:spPr>
          <a:xfrm>
            <a:off x="2906925" y="1215414"/>
            <a:ext cx="6158884" cy="53898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1"/>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Encoding &amp; Splitting</a:t>
            </a:r>
            <a:endParaRPr sz="1600" b="1" i="0" u="none" strike="noStrike" cap="none">
              <a:solidFill>
                <a:schemeClr val="lt1"/>
              </a:solidFill>
              <a:latin typeface="Arial Black"/>
              <a:ea typeface="Arial Black"/>
              <a:cs typeface="Arial Black"/>
              <a:sym typeface="Arial Black"/>
            </a:endParaRPr>
          </a:p>
        </p:txBody>
      </p:sp>
      <p:sp>
        <p:nvSpPr>
          <p:cNvPr id="205" name="Google Shape;205;p11"/>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06" name="Google Shape;206;p11"/>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07" name="Google Shape;207;p11"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208" name="Google Shape;208;p11"/>
          <p:cNvSpPr txBox="1"/>
          <p:nvPr/>
        </p:nvSpPr>
        <p:spPr>
          <a:xfrm>
            <a:off x="2096304" y="1266677"/>
            <a:ext cx="8001600" cy="45252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Binary Label Encoding</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Multiple traffic classes → converted to binary classification</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BENIGN → 0</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ATTACK → 1</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Labels standardized:</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Trim spaces</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Convert to uppercase</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Ensures consistency &amp; efficient model training</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Train–Test Split &amp; Imbalance Handling</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Dataset is highly imbalanced</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Used Stratified Sampling</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Preserves class distribution</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Applied Under-sampling (Training only)</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Balances classes</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Prevents data leakage</a:t>
            </a: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3d4a92b9079_1_103"/>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Methodology Overview</a:t>
            </a:r>
            <a:endParaRPr sz="1600" b="1" i="0" u="none" strike="noStrike" cap="none">
              <a:solidFill>
                <a:schemeClr val="lt1"/>
              </a:solidFill>
              <a:latin typeface="Arial Black"/>
              <a:ea typeface="Arial Black"/>
              <a:cs typeface="Arial Black"/>
              <a:sym typeface="Arial Black"/>
            </a:endParaRPr>
          </a:p>
        </p:txBody>
      </p:sp>
      <p:sp>
        <p:nvSpPr>
          <p:cNvPr id="214" name="Google Shape;214;g3d4a92b9079_1_103"/>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15" name="Google Shape;215;g3d4a92b9079_1_103"/>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16" name="Google Shape;216;g3d4a92b9079_1_103"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217" name="Google Shape;217;g3d4a92b9079_1_103"/>
          <p:cNvSpPr txBox="1"/>
          <p:nvPr/>
        </p:nvSpPr>
        <p:spPr>
          <a:xfrm>
            <a:off x="2096304" y="1266677"/>
            <a:ext cx="8001600" cy="369300"/>
          </a:xfrm>
          <a:prstGeom prst="rect">
            <a:avLst/>
          </a:prstGeom>
          <a:noFill/>
          <a:ln>
            <a:noFill/>
          </a:ln>
        </p:spPr>
        <p:txBody>
          <a:bodyPr spcFirstLastPara="1" wrap="square" lIns="91425" tIns="45700" rIns="91425" bIns="45700" anchor="t" anchorCtr="0">
            <a:spAutoFit/>
          </a:bodyPr>
          <a:lstStyle/>
          <a:p>
            <a:pPr marL="91440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218" name="Google Shape;218;g3d4a92b9079_1_103"/>
          <p:cNvPicPr preferRelativeResize="0"/>
          <p:nvPr/>
        </p:nvPicPr>
        <p:blipFill>
          <a:blip r:embed="rId4">
            <a:alphaModFix/>
          </a:blip>
          <a:stretch>
            <a:fillRect/>
          </a:stretch>
        </p:blipFill>
        <p:spPr>
          <a:xfrm>
            <a:off x="3661425" y="1210173"/>
            <a:ext cx="4961774" cy="53599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3de0fbb0b14_0_114"/>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Methodology Overview</a:t>
            </a:r>
            <a:endParaRPr sz="1600" b="1" i="0" u="none" strike="noStrike" cap="none">
              <a:solidFill>
                <a:schemeClr val="lt1"/>
              </a:solidFill>
              <a:latin typeface="Arial Black"/>
              <a:ea typeface="Arial Black"/>
              <a:cs typeface="Arial Black"/>
              <a:sym typeface="Arial Black"/>
            </a:endParaRPr>
          </a:p>
        </p:txBody>
      </p:sp>
      <p:sp>
        <p:nvSpPr>
          <p:cNvPr id="224" name="Google Shape;224;g3de0fbb0b14_0_114"/>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25" name="Google Shape;225;g3de0fbb0b14_0_114"/>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26" name="Google Shape;226;g3de0fbb0b14_0_114"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227" name="Google Shape;227;g3de0fbb0b14_0_114"/>
          <p:cNvSpPr txBox="1"/>
          <p:nvPr/>
        </p:nvSpPr>
        <p:spPr>
          <a:xfrm>
            <a:off x="2096304" y="1266677"/>
            <a:ext cx="8001600" cy="25860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Dataset: </a:t>
            </a:r>
            <a:r>
              <a:rPr lang="en-US" sz="1800" b="1" i="0" u="none" strike="noStrike" cap="none">
                <a:solidFill>
                  <a:schemeClr val="dk1"/>
                </a:solidFill>
              </a:rPr>
              <a:t>CICIDS2017</a:t>
            </a:r>
            <a:endParaRPr sz="1800" b="1" i="0" u="none" strike="noStrike" cap="none">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Approach: </a:t>
            </a:r>
            <a:r>
              <a:rPr lang="en-US" sz="1800" b="1" i="0" u="none" strike="noStrike" cap="none">
                <a:solidFill>
                  <a:schemeClr val="dk1"/>
                </a:solidFill>
              </a:rPr>
              <a:t>Supervised Learning (Random Forest)</a:t>
            </a:r>
            <a:endParaRPr sz="1800" b="1" i="0" u="none" strike="noStrike" cap="none">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Objective: </a:t>
            </a:r>
            <a:r>
              <a:rPr lang="en-US" sz="1800" b="1" i="0" u="none" strike="noStrike" cap="none">
                <a:solidFill>
                  <a:schemeClr val="dk1"/>
                </a:solidFill>
              </a:rPr>
              <a:t>Detect Benign vs Attack traffic</a:t>
            </a:r>
            <a:endParaRPr sz="1800" b="1" i="0" u="none" strike="noStrike" cap="none">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Pipeline:</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Data Preprocessing</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Feature Engineering</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Model Training</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Evaluation</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d4a92b9079_1_111"/>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Data + Model + Tuning</a:t>
            </a:r>
            <a:endParaRPr sz="1600" b="1" i="0" u="none" strike="noStrike" cap="none">
              <a:solidFill>
                <a:schemeClr val="lt1"/>
              </a:solidFill>
              <a:latin typeface="Arial Black"/>
              <a:ea typeface="Arial Black"/>
              <a:cs typeface="Arial Black"/>
              <a:sym typeface="Arial Black"/>
            </a:endParaRPr>
          </a:p>
        </p:txBody>
      </p:sp>
      <p:sp>
        <p:nvSpPr>
          <p:cNvPr id="233" name="Google Shape;233;g3d4a92b9079_1_111"/>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34" name="Google Shape;234;g3d4a92b9079_1_111"/>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35" name="Google Shape;235;g3d4a92b9079_1_111"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236" name="Google Shape;236;g3d4a92b9079_1_111"/>
          <p:cNvSpPr txBox="1"/>
          <p:nvPr/>
        </p:nvSpPr>
        <p:spPr>
          <a:xfrm>
            <a:off x="2096304" y="1266677"/>
            <a:ext cx="8001600" cy="4525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Data Preparation:</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Features (X) &amp; Target (y: 0 = Benign, 1 = Attack)</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Balanced training dataset</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Model: Random Forest</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Handles high-dimensional data</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Robust &amp; efficient</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Parallel processing (n_jobs = -1)</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Feature Selection:</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Top 15 important features</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Hyperparameter Tuning:</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Grid Search + 5-fold CV</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Best parameters:</a:t>
            </a:r>
            <a:endParaRPr sz="1800" b="1"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max_depth = 20</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min_samples_leaf = 2</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min_samples_split = 5</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n_estimators = 100</a:t>
            </a: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3d4a92b9079_1_123"/>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Model Evaluation and Results</a:t>
            </a:r>
            <a:endParaRPr sz="1600" b="1" i="0" u="none" strike="noStrike" cap="none">
              <a:solidFill>
                <a:schemeClr val="lt1"/>
              </a:solidFill>
              <a:latin typeface="Arial Black"/>
              <a:ea typeface="Arial Black"/>
              <a:cs typeface="Arial Black"/>
              <a:sym typeface="Arial Black"/>
            </a:endParaRPr>
          </a:p>
        </p:txBody>
      </p:sp>
      <p:sp>
        <p:nvSpPr>
          <p:cNvPr id="242" name="Google Shape;242;g3d4a92b9079_1_123"/>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43" name="Google Shape;243;g3d4a92b9079_1_123"/>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44" name="Google Shape;244;g3d4a92b9079_1_123"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245" name="Google Shape;245;g3d4a92b9079_1_123"/>
          <p:cNvSpPr txBox="1"/>
          <p:nvPr/>
        </p:nvSpPr>
        <p:spPr>
          <a:xfrm>
            <a:off x="2096304" y="1266677"/>
            <a:ext cx="8001600" cy="42483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Evaluation Metrics:</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Accuracy, Precision, Recall, F1-score</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Overall Performance:</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Accuracy: ~99%</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F1-score (macro &amp; weighted): 0.99</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Class-wise Performance:</a:t>
            </a:r>
            <a:endParaRPr sz="1800" b="1"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Benign (Class 0):</a:t>
            </a:r>
            <a:endParaRPr sz="1800" b="1"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Precision: 1.00</a:t>
            </a:r>
            <a:endParaRPr sz="1800" b="1"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Recall: 0.99</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1" i="0" u="none" strike="noStrike" cap="none">
                <a:solidFill>
                  <a:schemeClr val="dk1"/>
                </a:solidFill>
                <a:latin typeface="Arial"/>
                <a:ea typeface="Arial"/>
                <a:cs typeface="Arial"/>
                <a:sym typeface="Arial"/>
              </a:rPr>
              <a:t>Attack (Class 1):</a:t>
            </a:r>
            <a:endParaRPr sz="1800" b="1"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Precision: 0.98</a:t>
            </a:r>
            <a:endParaRPr sz="1800" b="0" i="0" u="none" strike="noStrike" cap="none">
              <a:solidFill>
                <a:schemeClr val="dk1"/>
              </a:solidFill>
              <a:latin typeface="Arial"/>
              <a:ea typeface="Arial"/>
              <a:cs typeface="Arial"/>
              <a:sym typeface="Aria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Recall: 1.00</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High recall → minimal missed attacks</a:t>
            </a:r>
            <a:endParaRPr sz="1800" b="1"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Low false positives</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Balanced model performance</a:t>
            </a: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3d4a92b9079_1_135"/>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Confusion matrix</a:t>
            </a:r>
            <a:endParaRPr sz="1600" b="1" i="0" u="none" strike="noStrike" cap="none">
              <a:solidFill>
                <a:schemeClr val="lt1"/>
              </a:solidFill>
              <a:latin typeface="Arial Black"/>
              <a:ea typeface="Arial Black"/>
              <a:cs typeface="Arial Black"/>
              <a:sym typeface="Arial Black"/>
            </a:endParaRPr>
          </a:p>
        </p:txBody>
      </p:sp>
      <p:sp>
        <p:nvSpPr>
          <p:cNvPr id="251" name="Google Shape;251;g3d4a92b9079_1_135"/>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52" name="Google Shape;252;g3d4a92b9079_1_135"/>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53" name="Google Shape;253;g3d4a92b9079_1_135"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254" name="Google Shape;254;g3d4a92b9079_1_135"/>
          <p:cNvSpPr txBox="1"/>
          <p:nvPr/>
        </p:nvSpPr>
        <p:spPr>
          <a:xfrm>
            <a:off x="2096304" y="1266677"/>
            <a:ext cx="8001600" cy="31401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The Random Forest model demonstrates strong performance, as shown by the confusion matrix.</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High True Negatives: 450,979</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High True Positives: 110,837</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Low False Positives: 2,739</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Very Low False Negatives: 436</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Accurate detection of benign &amp; attack traffic</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Low misclassification rates</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Strong focus on detecting malicious activity</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Overall, the model shows reliable performance with low misclassification rates and a strong emphasis on detecting malicious activity.</a:t>
            </a:r>
            <a:endParaRPr sz="1800" b="1" i="0" u="none" strike="noStrike" cap="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2"/>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Confusion matrix</a:t>
            </a:r>
            <a:endParaRPr sz="1800" b="0" i="0" u="none" strike="noStrike" cap="none">
              <a:solidFill>
                <a:schemeClr val="lt1"/>
              </a:solidFill>
              <a:latin typeface="Arial"/>
              <a:ea typeface="Arial"/>
              <a:cs typeface="Arial"/>
              <a:sym typeface="Arial"/>
            </a:endParaRPr>
          </a:p>
        </p:txBody>
      </p:sp>
      <p:sp>
        <p:nvSpPr>
          <p:cNvPr id="260" name="Google Shape;260;p12"/>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61" name="Google Shape;261;p12"/>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62" name="Google Shape;262;p12"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pic>
        <p:nvPicPr>
          <p:cNvPr id="263" name="Google Shape;263;p12"/>
          <p:cNvPicPr preferRelativeResize="0"/>
          <p:nvPr/>
        </p:nvPicPr>
        <p:blipFill>
          <a:blip r:embed="rId4">
            <a:alphaModFix/>
          </a:blip>
          <a:stretch>
            <a:fillRect/>
          </a:stretch>
        </p:blipFill>
        <p:spPr>
          <a:xfrm>
            <a:off x="3396050" y="1614502"/>
            <a:ext cx="5279425" cy="4812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3"/>
          <p:cNvSpPr/>
          <p:nvPr/>
        </p:nvSpPr>
        <p:spPr>
          <a:xfrm>
            <a:off x="2096255" y="0"/>
            <a:ext cx="8001692" cy="992201"/>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ROC Curve Analysis</a:t>
            </a:r>
            <a:endParaRPr sz="1600" b="1" i="0" u="none" strike="noStrike" cap="none">
              <a:solidFill>
                <a:schemeClr val="lt1"/>
              </a:solidFill>
              <a:latin typeface="Arial Black"/>
              <a:ea typeface="Arial Black"/>
              <a:cs typeface="Arial Black"/>
              <a:sym typeface="Arial Black"/>
            </a:endParaRPr>
          </a:p>
        </p:txBody>
      </p:sp>
      <p:sp>
        <p:nvSpPr>
          <p:cNvPr id="269" name="Google Shape;269;p13"/>
          <p:cNvSpPr/>
          <p:nvPr/>
        </p:nvSpPr>
        <p:spPr>
          <a:xfrm>
            <a:off x="2096255" y="6720417"/>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70" name="Google Shape;270;p13"/>
          <p:cNvSpPr/>
          <p:nvPr/>
        </p:nvSpPr>
        <p:spPr>
          <a:xfrm>
            <a:off x="2096255" y="952040"/>
            <a:ext cx="8001692" cy="148167"/>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71" name="Google Shape;271;p13"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272" name="Google Shape;272;p13"/>
          <p:cNvSpPr txBox="1"/>
          <p:nvPr/>
        </p:nvSpPr>
        <p:spPr>
          <a:xfrm>
            <a:off x="2096250" y="1305350"/>
            <a:ext cx="7928400" cy="25860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AUC Score: 0.9996</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Indicates near-perfect class separation</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Curve close to top-left corner:</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High True Positive Rate (TPR)</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Low False Positive Rate (FPR)</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Excellent discrimination between classes</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Strong intrusion detection capability</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Further validation needed for generalization</a:t>
            </a:r>
            <a:endParaRPr sz="1800" b="0" i="0" u="none" strike="noStrike" cap="none">
              <a:solidFill>
                <a:schemeClr val="dk1"/>
              </a:solidFill>
              <a:latin typeface="Arial"/>
              <a:ea typeface="Arial"/>
              <a:cs typeface="Arial"/>
              <a:sym typeface="Aria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
        <p:nvSpPr>
          <p:cNvPr id="273" name="Google Shape;273;p13"/>
          <p:cNvSpPr txBox="1"/>
          <p:nvPr/>
        </p:nvSpPr>
        <p:spPr>
          <a:xfrm>
            <a:off x="5752749" y="1419650"/>
            <a:ext cx="4345200" cy="369300"/>
          </a:xfrm>
          <a:prstGeom prst="rect">
            <a:avLst/>
          </a:prstGeom>
          <a:noFill/>
          <a:ln>
            <a:noFill/>
          </a:ln>
        </p:spPr>
        <p:txBody>
          <a:bodyPr spcFirstLastPara="1" wrap="square" lIns="91425" tIns="45700" rIns="91425" bIns="45700" anchor="t" anchorCtr="0">
            <a:spAutoFit/>
          </a:bodyPr>
          <a:lstStyle/>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3d4a92b9079_1_149"/>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ROC Curve Analysis</a:t>
            </a:r>
            <a:endParaRPr sz="1600" b="1" i="0" u="none" strike="noStrike" cap="none">
              <a:solidFill>
                <a:schemeClr val="lt1"/>
              </a:solidFill>
              <a:latin typeface="Arial Black"/>
              <a:ea typeface="Arial Black"/>
              <a:cs typeface="Arial Black"/>
              <a:sym typeface="Arial Black"/>
            </a:endParaRPr>
          </a:p>
        </p:txBody>
      </p:sp>
      <p:sp>
        <p:nvSpPr>
          <p:cNvPr id="279" name="Google Shape;279;g3d4a92b9079_1_149"/>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80" name="Google Shape;280;g3d4a92b9079_1_149"/>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81" name="Google Shape;281;g3d4a92b9079_1_149"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282" name="Google Shape;282;g3d4a92b9079_1_149"/>
          <p:cNvSpPr txBox="1"/>
          <p:nvPr/>
        </p:nvSpPr>
        <p:spPr>
          <a:xfrm>
            <a:off x="5752749" y="1419650"/>
            <a:ext cx="4345200" cy="369300"/>
          </a:xfrm>
          <a:prstGeom prst="rect">
            <a:avLst/>
          </a:prstGeom>
          <a:noFill/>
          <a:ln>
            <a:noFill/>
          </a:ln>
        </p:spPr>
        <p:txBody>
          <a:bodyPr spcFirstLastPara="1" wrap="square" lIns="91425" tIns="45700" rIns="91425" bIns="45700" anchor="t" anchorCtr="0">
            <a:spAutoFit/>
          </a:bodyPr>
          <a:lstStyle/>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pic>
        <p:nvPicPr>
          <p:cNvPr id="283" name="Google Shape;283;g3d4a92b9079_1_149"/>
          <p:cNvPicPr preferRelativeResize="0"/>
          <p:nvPr/>
        </p:nvPicPr>
        <p:blipFill>
          <a:blip r:embed="rId4">
            <a:alphaModFix/>
          </a:blip>
          <a:stretch>
            <a:fillRect/>
          </a:stretch>
        </p:blipFill>
        <p:spPr>
          <a:xfrm>
            <a:off x="2739575" y="1365750"/>
            <a:ext cx="6595013" cy="50891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g3d4a92b9079_1_161"/>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Feature Importance Analysis</a:t>
            </a:r>
            <a:endParaRPr sz="1600" b="1" i="0" u="none" strike="noStrike" cap="none">
              <a:solidFill>
                <a:schemeClr val="lt1"/>
              </a:solidFill>
              <a:latin typeface="Arial Black"/>
              <a:ea typeface="Arial Black"/>
              <a:cs typeface="Arial Black"/>
              <a:sym typeface="Arial Black"/>
            </a:endParaRPr>
          </a:p>
        </p:txBody>
      </p:sp>
      <p:sp>
        <p:nvSpPr>
          <p:cNvPr id="289" name="Google Shape;289;g3d4a92b9079_1_161"/>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290" name="Google Shape;290;g3d4a92b9079_1_161"/>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291" name="Google Shape;291;g3d4a92b9079_1_161"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292" name="Google Shape;292;g3d4a92b9079_1_161"/>
          <p:cNvSpPr txBox="1"/>
          <p:nvPr/>
        </p:nvSpPr>
        <p:spPr>
          <a:xfrm>
            <a:off x="2096250" y="1305350"/>
            <a:ext cx="7928400" cy="28629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Identified using Random Forest model</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Top Contributing Features:</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Destination Port</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Packet Length (max, mean, variance)</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Forward/Backward packet features</a:t>
            </a:r>
            <a:endParaRPr sz="1800" b="0" i="0" u="none" strike="noStrike" cap="none">
              <a:solidFill>
                <a:schemeClr val="dk1"/>
              </a:solidFill>
              <a:latin typeface="Arial"/>
              <a:ea typeface="Arial"/>
              <a:cs typeface="Arial"/>
              <a:sym typeface="Aria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TCP Window Size</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Improves efficiency</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Reduces dimensionality</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Enhances interpretability</a:t>
            </a:r>
            <a:endParaRPr sz="1800" b="0" i="0" u="none" strike="noStrike" cap="none">
              <a:solidFill>
                <a:schemeClr val="dk1"/>
              </a:solidFill>
              <a:latin typeface="Arial"/>
              <a:ea typeface="Arial"/>
              <a:cs typeface="Arial"/>
              <a:sym typeface="Aria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
        <p:nvSpPr>
          <p:cNvPr id="293" name="Google Shape;293;g3d4a92b9079_1_161"/>
          <p:cNvSpPr txBox="1"/>
          <p:nvPr/>
        </p:nvSpPr>
        <p:spPr>
          <a:xfrm>
            <a:off x="5752749" y="1419650"/>
            <a:ext cx="4345200" cy="369300"/>
          </a:xfrm>
          <a:prstGeom prst="rect">
            <a:avLst/>
          </a:prstGeom>
          <a:noFill/>
          <a:ln>
            <a:noFill/>
          </a:ln>
        </p:spPr>
        <p:txBody>
          <a:bodyPr spcFirstLastPara="1" wrap="square" lIns="91425" tIns="45700" rIns="91425" bIns="45700" anchor="t" anchorCtr="0">
            <a:spAutoFit/>
          </a:bodyPr>
          <a:lstStyle/>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3d4a92b9079_1_170"/>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Feature Importance Analysis</a:t>
            </a:r>
            <a:endParaRPr sz="1800" b="0" i="0" u="none" strike="noStrike" cap="none">
              <a:solidFill>
                <a:schemeClr val="lt1"/>
              </a:solidFill>
              <a:latin typeface="Arial"/>
              <a:ea typeface="Arial"/>
              <a:cs typeface="Arial"/>
              <a:sym typeface="Arial"/>
            </a:endParaRPr>
          </a:p>
        </p:txBody>
      </p:sp>
      <p:sp>
        <p:nvSpPr>
          <p:cNvPr id="299" name="Google Shape;299;g3d4a92b9079_1_170"/>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00" name="Google Shape;300;g3d4a92b9079_1_170"/>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01" name="Google Shape;301;g3d4a92b9079_1_170"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02" name="Google Shape;302;g3d4a92b9079_1_170"/>
          <p:cNvSpPr txBox="1"/>
          <p:nvPr/>
        </p:nvSpPr>
        <p:spPr>
          <a:xfrm>
            <a:off x="5752749" y="1419650"/>
            <a:ext cx="4345200" cy="369300"/>
          </a:xfrm>
          <a:prstGeom prst="rect">
            <a:avLst/>
          </a:prstGeom>
          <a:noFill/>
          <a:ln>
            <a:noFill/>
          </a:ln>
        </p:spPr>
        <p:txBody>
          <a:bodyPr spcFirstLastPara="1" wrap="square" lIns="91425" tIns="45700" rIns="91425" bIns="45700" anchor="t" anchorCtr="0">
            <a:spAutoFit/>
          </a:bodyPr>
          <a:lstStyle/>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pic>
        <p:nvPicPr>
          <p:cNvPr id="303" name="Google Shape;303;g3d4a92b9079_1_170"/>
          <p:cNvPicPr preferRelativeResize="0"/>
          <p:nvPr/>
        </p:nvPicPr>
        <p:blipFill>
          <a:blip r:embed="rId4">
            <a:alphaModFix/>
          </a:blip>
          <a:stretch>
            <a:fillRect/>
          </a:stretch>
        </p:blipFill>
        <p:spPr>
          <a:xfrm>
            <a:off x="1639750" y="1419650"/>
            <a:ext cx="8458200" cy="4295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d4a92b9079_1_182"/>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Learning Curve Analysis</a:t>
            </a:r>
            <a:endParaRPr sz="1600" b="1" i="0" u="none" strike="noStrike" cap="none">
              <a:solidFill>
                <a:schemeClr val="lt1"/>
              </a:solidFill>
              <a:latin typeface="Arial Black"/>
              <a:ea typeface="Arial Black"/>
              <a:cs typeface="Arial Black"/>
              <a:sym typeface="Arial Black"/>
            </a:endParaRPr>
          </a:p>
        </p:txBody>
      </p:sp>
      <p:sp>
        <p:nvSpPr>
          <p:cNvPr id="309" name="Google Shape;309;g3d4a92b9079_1_182"/>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10" name="Google Shape;310;g3d4a92b9079_1_182"/>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11" name="Google Shape;311;g3d4a92b9079_1_182"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12" name="Google Shape;312;g3d4a92b9079_1_182"/>
          <p:cNvSpPr txBox="1"/>
          <p:nvPr/>
        </p:nvSpPr>
        <p:spPr>
          <a:xfrm>
            <a:off x="2096250" y="1305350"/>
            <a:ext cx="7928400" cy="14775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Training F1-score: ~0.989 → 0.996</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Validation F1-score: ~0.972 → 0.992</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Small gap (~0.003–0.004)</a:t>
            </a:r>
            <a:endParaRPr sz="18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Indicates minimal overfitting</a:t>
            </a:r>
            <a:endParaRPr sz="1800" b="0" i="0" u="none" strike="noStrike" cap="none">
              <a:solidFill>
                <a:schemeClr val="dk1"/>
              </a:solidFill>
              <a:latin typeface="Arial"/>
              <a:ea typeface="Arial"/>
              <a:cs typeface="Arial"/>
              <a:sym typeface="Aria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pic>
        <p:nvPicPr>
          <p:cNvPr id="313" name="Google Shape;313;g3d4a92b9079_1_182"/>
          <p:cNvPicPr preferRelativeResize="0"/>
          <p:nvPr/>
        </p:nvPicPr>
        <p:blipFill>
          <a:blip r:embed="rId4">
            <a:alphaModFix/>
          </a:blip>
          <a:stretch>
            <a:fillRect/>
          </a:stretch>
        </p:blipFill>
        <p:spPr>
          <a:xfrm>
            <a:off x="2829700" y="2600600"/>
            <a:ext cx="5324475" cy="3609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g3de0fbb0b14_0_0"/>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Unsupervised Learning – Methodology</a:t>
            </a:r>
            <a:endParaRPr sz="1600" b="1" i="0" u="none" strike="noStrike" cap="none">
              <a:solidFill>
                <a:schemeClr val="lt1"/>
              </a:solidFill>
              <a:latin typeface="Arial Black"/>
              <a:ea typeface="Arial Black"/>
              <a:cs typeface="Arial Black"/>
              <a:sym typeface="Arial Black"/>
            </a:endParaRPr>
          </a:p>
        </p:txBody>
      </p:sp>
      <p:sp>
        <p:nvSpPr>
          <p:cNvPr id="319" name="Google Shape;319;g3de0fbb0b14_0_0"/>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20" name="Google Shape;320;g3de0fbb0b14_0_0"/>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21" name="Google Shape;321;g3de0fbb0b14_0_0"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22" name="Google Shape;322;g3de0fbb0b14_0_0"/>
          <p:cNvSpPr txBox="1"/>
          <p:nvPr/>
        </p:nvSpPr>
        <p:spPr>
          <a:xfrm>
            <a:off x="2096250" y="1305350"/>
            <a:ext cx="7928400" cy="59106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Approach: K-Means Clustering (MiniBatch)</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Objective:</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Extract hidden patterns</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Generate new features</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Steps:</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Data balancing</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Feature scaling</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PCA (dimensionality reduction)</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Clustering</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Balanced Dataset:</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50K Benign + 50K Attack samples</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Feature Scaling:</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StandardScaler applied</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PCA:</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Reduced</a:t>
            </a:r>
            <a:r>
              <a:rPr lang="en-US" sz="1800" b="1">
                <a:solidFill>
                  <a:schemeClr val="dk1"/>
                </a:solidFill>
              </a:rPr>
              <a:t> 77 → 20 features</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K-Means Configuration:</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K = 2 clusters</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Batch size = 5000</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10 initializations</a:t>
            </a:r>
            <a:endParaRPr sz="1100">
              <a:solidFill>
                <a:schemeClr val="dk1"/>
              </a:solidFill>
            </a:endParaRPr>
          </a:p>
          <a:p>
            <a:pPr marL="457200" marR="0" lvl="0" indent="0" algn="l" rtl="0">
              <a:lnSpc>
                <a:spcPct val="100000"/>
              </a:lnSpc>
              <a:spcBef>
                <a:spcPts val="0"/>
              </a:spcBef>
              <a:spcAft>
                <a:spcPts val="0"/>
              </a:spcAft>
              <a:buNone/>
            </a:pPr>
            <a:endParaRPr sz="180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g3de0fbb0b14_0_12"/>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Cluster Interpretation &amp; Results</a:t>
            </a:r>
            <a:endParaRPr sz="1600" b="1" i="0" u="none" strike="noStrike" cap="none">
              <a:solidFill>
                <a:schemeClr val="lt1"/>
              </a:solidFill>
              <a:latin typeface="Arial Black"/>
              <a:ea typeface="Arial Black"/>
              <a:cs typeface="Arial Black"/>
              <a:sym typeface="Arial Black"/>
            </a:endParaRPr>
          </a:p>
        </p:txBody>
      </p:sp>
      <p:sp>
        <p:nvSpPr>
          <p:cNvPr id="328" name="Google Shape;328;g3de0fbb0b14_0_12"/>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29" name="Google Shape;329;g3de0fbb0b14_0_12"/>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30" name="Google Shape;330;g3de0fbb0b14_0_12"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31" name="Google Shape;331;g3de0fbb0b14_0_12"/>
          <p:cNvSpPr txBox="1"/>
          <p:nvPr/>
        </p:nvSpPr>
        <p:spPr>
          <a:xfrm>
            <a:off x="2096250" y="1305350"/>
            <a:ext cx="7928400" cy="34170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Cluster Mapping:</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Cluster 0 → Benign (mean = 0.40)</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Cluster 1 → Attack (mean = 0.87)</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Observations:</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Clear separation in PCA space</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Benign → dense near origin</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Attack → more dispersed</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Captures hidden patterns</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Enhances feature representation</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Improves downstream model performance</a:t>
            </a:r>
            <a:endParaRPr sz="1800">
              <a:solidFill>
                <a:schemeClr val="dk1"/>
              </a:solidFill>
            </a:endParaRPr>
          </a:p>
          <a:p>
            <a:pPr marL="457200" marR="0" lvl="0" indent="0" algn="l" rtl="0">
              <a:lnSpc>
                <a:spcPct val="100000"/>
              </a:lnSpc>
              <a:spcBef>
                <a:spcPts val="0"/>
              </a:spcBef>
              <a:spcAft>
                <a:spcPts val="0"/>
              </a:spcAft>
              <a:buNone/>
            </a:pPr>
            <a:endParaRPr sz="180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3de0fbb0b14_0_23"/>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K-Means Clustering Visualization (PCA Space)</a:t>
            </a:r>
            <a:endParaRPr sz="1600" b="1" i="0" u="none" strike="noStrike" cap="none">
              <a:solidFill>
                <a:schemeClr val="lt1"/>
              </a:solidFill>
              <a:latin typeface="Arial Black"/>
              <a:ea typeface="Arial Black"/>
              <a:cs typeface="Arial Black"/>
              <a:sym typeface="Arial Black"/>
            </a:endParaRPr>
          </a:p>
        </p:txBody>
      </p:sp>
      <p:sp>
        <p:nvSpPr>
          <p:cNvPr id="337" name="Google Shape;337;g3de0fbb0b14_0_23"/>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38" name="Google Shape;338;g3de0fbb0b14_0_23"/>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39" name="Google Shape;339;g3de0fbb0b14_0_23"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40" name="Google Shape;340;g3de0fbb0b14_0_23"/>
          <p:cNvSpPr txBox="1"/>
          <p:nvPr/>
        </p:nvSpPr>
        <p:spPr>
          <a:xfrm>
            <a:off x="2096250" y="1305350"/>
            <a:ext cx="7928400" cy="3694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Clustering performed using </a:t>
            </a:r>
            <a:r>
              <a:rPr lang="en-US" sz="1800" b="1">
                <a:solidFill>
                  <a:schemeClr val="dk1"/>
                </a:solidFill>
              </a:rPr>
              <a:t>MiniBatch K-Means (K = 2)</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Visualized using </a:t>
            </a:r>
            <a:r>
              <a:rPr lang="en-US" sz="1800" b="1">
                <a:solidFill>
                  <a:schemeClr val="dk1"/>
                </a:solidFill>
              </a:rPr>
              <a:t>PCA (PC1 vs PC2)</a:t>
            </a:r>
            <a:endParaRPr sz="11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Observations:</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Cluster 0 (</a:t>
            </a:r>
            <a:r>
              <a:rPr lang="en-US" sz="1800" b="1">
                <a:solidFill>
                  <a:schemeClr val="dk1"/>
                </a:solidFill>
              </a:rPr>
              <a:t>Benign</a:t>
            </a:r>
            <a:r>
              <a:rPr lang="en-US" sz="1800">
                <a:solidFill>
                  <a:schemeClr val="dk1"/>
                </a:solidFill>
              </a:rPr>
              <a:t>):</a:t>
            </a:r>
            <a:endParaRPr sz="180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Densely packed near origin</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Cluster 1 (</a:t>
            </a:r>
            <a:r>
              <a:rPr lang="en-US" sz="1800" b="1">
                <a:solidFill>
                  <a:schemeClr val="dk1"/>
                </a:solidFill>
              </a:rPr>
              <a:t>Attack</a:t>
            </a:r>
            <a:r>
              <a:rPr lang="en-US" sz="1800">
                <a:solidFill>
                  <a:schemeClr val="dk1"/>
                </a:solidFill>
              </a:rPr>
              <a:t>):</a:t>
            </a:r>
            <a:endParaRPr sz="180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More dispersed across feature space</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Centroids (</a:t>
            </a:r>
            <a:r>
              <a:rPr lang="en-US" sz="1800" b="1">
                <a:solidFill>
                  <a:schemeClr val="dk1"/>
                </a:solidFill>
              </a:rPr>
              <a:t>Red X</a:t>
            </a:r>
            <a:r>
              <a:rPr lang="en-US" sz="1800">
                <a:solidFill>
                  <a:schemeClr val="dk1"/>
                </a:solidFill>
              </a:rPr>
              <a:t>):</a:t>
            </a:r>
            <a:endParaRPr sz="180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Represent cluster centers</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Clear separation between traffic types</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Captures underlying data patterns</a:t>
            </a:r>
            <a:endParaRPr sz="1100">
              <a:solidFill>
                <a:schemeClr val="dk1"/>
              </a:solidFill>
            </a:endParaRPr>
          </a:p>
          <a:p>
            <a:pPr marL="457200" marR="0" lvl="0" indent="0" algn="l" rtl="0">
              <a:lnSpc>
                <a:spcPct val="100000"/>
              </a:lnSpc>
              <a:spcBef>
                <a:spcPts val="0"/>
              </a:spcBef>
              <a:spcAft>
                <a:spcPts val="0"/>
              </a:spcAft>
              <a:buNone/>
            </a:pPr>
            <a:endParaRPr sz="180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g3de0fbb0b14_0_34"/>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K-Means Clustering Visualization (PCA Space)</a:t>
            </a:r>
            <a:endParaRPr sz="1600" b="1" i="0" u="none" strike="noStrike" cap="none">
              <a:solidFill>
                <a:schemeClr val="lt1"/>
              </a:solidFill>
              <a:latin typeface="Arial Black"/>
              <a:ea typeface="Arial Black"/>
              <a:cs typeface="Arial Black"/>
              <a:sym typeface="Arial Black"/>
            </a:endParaRPr>
          </a:p>
        </p:txBody>
      </p:sp>
      <p:sp>
        <p:nvSpPr>
          <p:cNvPr id="346" name="Google Shape;346;g3de0fbb0b14_0_34"/>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47" name="Google Shape;347;g3de0fbb0b14_0_34"/>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48" name="Google Shape;348;g3de0fbb0b14_0_34"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49" name="Google Shape;349;g3de0fbb0b14_0_34"/>
          <p:cNvSpPr txBox="1"/>
          <p:nvPr/>
        </p:nvSpPr>
        <p:spPr>
          <a:xfrm>
            <a:off x="2096250" y="1305350"/>
            <a:ext cx="7928400" cy="6465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sz="180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pic>
        <p:nvPicPr>
          <p:cNvPr id="350" name="Google Shape;350;g3de0fbb0b14_0_34"/>
          <p:cNvPicPr preferRelativeResize="0"/>
          <p:nvPr/>
        </p:nvPicPr>
        <p:blipFill>
          <a:blip r:embed="rId4">
            <a:alphaModFix/>
          </a:blip>
          <a:stretch>
            <a:fillRect/>
          </a:stretch>
        </p:blipFill>
        <p:spPr>
          <a:xfrm>
            <a:off x="2739600" y="1422050"/>
            <a:ext cx="5895975" cy="4248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3de0fbb0b14_0_43"/>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K-Means Model Evaluation</a:t>
            </a:r>
            <a:endParaRPr sz="1600" b="1" i="0" u="none" strike="noStrike" cap="none">
              <a:solidFill>
                <a:schemeClr val="lt1"/>
              </a:solidFill>
              <a:latin typeface="Arial Black"/>
              <a:ea typeface="Arial Black"/>
              <a:cs typeface="Arial Black"/>
              <a:sym typeface="Arial Black"/>
            </a:endParaRPr>
          </a:p>
        </p:txBody>
      </p:sp>
      <p:sp>
        <p:nvSpPr>
          <p:cNvPr id="356" name="Google Shape;356;g3de0fbb0b14_0_43"/>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57" name="Google Shape;357;g3de0fbb0b14_0_43"/>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58" name="Google Shape;358;g3de0fbb0b14_0_43"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59" name="Google Shape;359;g3de0fbb0b14_0_43"/>
          <p:cNvSpPr txBox="1"/>
          <p:nvPr/>
        </p:nvSpPr>
        <p:spPr>
          <a:xfrm>
            <a:off x="2096250" y="1305350"/>
            <a:ext cx="7928400" cy="33093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Overall Accuracy: 0.83</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Benign Traffic (Class 0):</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Recall: 0.95</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F1-score: 0.90</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Attack Traffic (Class 1):</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Recall: 0.36</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F1-score: 0.46</a:t>
            </a:r>
            <a:endParaRPr sz="11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Strong at detecting </a:t>
            </a:r>
            <a:r>
              <a:rPr lang="en-US" sz="1800" b="1">
                <a:solidFill>
                  <a:schemeClr val="dk1"/>
                </a:solidFill>
              </a:rPr>
              <a:t>benign </a:t>
            </a:r>
            <a:r>
              <a:rPr lang="en-US" sz="1800">
                <a:solidFill>
                  <a:schemeClr val="dk1"/>
                </a:solidFill>
              </a:rPr>
              <a:t>patterns</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Weak at detecting </a:t>
            </a:r>
            <a:r>
              <a:rPr lang="en-US" sz="1800" b="1">
                <a:solidFill>
                  <a:schemeClr val="dk1"/>
                </a:solidFill>
              </a:rPr>
              <a:t>attack </a:t>
            </a:r>
            <a:r>
              <a:rPr lang="en-US" sz="1800">
                <a:solidFill>
                  <a:schemeClr val="dk1"/>
                </a:solidFill>
              </a:rPr>
              <a:t>patterns</a:t>
            </a:r>
            <a:endParaRPr sz="1100" b="1">
              <a:solidFill>
                <a:schemeClr val="dk1"/>
              </a:solidFill>
            </a:endParaRPr>
          </a:p>
          <a:p>
            <a:pPr marL="457200" marR="0" lvl="0" indent="0" algn="l" rtl="0">
              <a:lnSpc>
                <a:spcPct val="100000"/>
              </a:lnSpc>
              <a:spcBef>
                <a:spcPts val="0"/>
              </a:spcBef>
              <a:spcAft>
                <a:spcPts val="0"/>
              </a:spcAft>
              <a:buNone/>
            </a:pPr>
            <a:endParaRPr sz="1100">
              <a:solidFill>
                <a:schemeClr val="dk1"/>
              </a:solidFill>
            </a:endParaRPr>
          </a:p>
          <a:p>
            <a:pPr marL="457200" marR="0" lvl="0" indent="0" algn="l" rtl="0">
              <a:lnSpc>
                <a:spcPct val="100000"/>
              </a:lnSpc>
              <a:spcBef>
                <a:spcPts val="0"/>
              </a:spcBef>
              <a:spcAft>
                <a:spcPts val="0"/>
              </a:spcAft>
              <a:buNone/>
            </a:pPr>
            <a:endParaRPr sz="180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3de0fbb0b14_0_54"/>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K-Means Confusion Matrix Analysis</a:t>
            </a:r>
            <a:endParaRPr sz="1600" b="1" i="0" u="none" strike="noStrike" cap="none">
              <a:solidFill>
                <a:schemeClr val="lt1"/>
              </a:solidFill>
              <a:latin typeface="Arial Black"/>
              <a:ea typeface="Arial Black"/>
              <a:cs typeface="Arial Black"/>
              <a:sym typeface="Arial Black"/>
            </a:endParaRPr>
          </a:p>
        </p:txBody>
      </p:sp>
      <p:sp>
        <p:nvSpPr>
          <p:cNvPr id="365" name="Google Shape;365;g3de0fbb0b14_0_54"/>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66" name="Google Shape;366;g3de0fbb0b14_0_54"/>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67" name="Google Shape;367;g3de0fbb0b14_0_54"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68" name="Google Shape;368;g3de0fbb0b14_0_54"/>
          <p:cNvSpPr txBox="1"/>
          <p:nvPr/>
        </p:nvSpPr>
        <p:spPr>
          <a:xfrm>
            <a:off x="2096250" y="1305350"/>
            <a:ext cx="7928400" cy="209284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K-Means effectively identifies benign traffic but fails to detect many attacks due to high false negatives. This shows that clustering alone is insufficient for intrusion detection and must be combined with supervised models.</a:t>
            </a:r>
            <a:endParaRPr lang="en-IN" sz="1100" dirty="0">
              <a:solidFill>
                <a:schemeClr val="dk1"/>
              </a:solidFill>
            </a:endParaRPr>
          </a:p>
          <a:p>
            <a:pPr marL="457200" marR="0" lvl="0" indent="0" algn="l" rtl="0">
              <a:lnSpc>
                <a:spcPct val="100000"/>
              </a:lnSpc>
              <a:spcBef>
                <a:spcPts val="0"/>
              </a:spcBef>
              <a:spcAft>
                <a:spcPts val="0"/>
              </a:spcAft>
              <a:buNone/>
            </a:pPr>
            <a:endParaRPr lang="en-IN" sz="1100" dirty="0">
              <a:solidFill>
                <a:schemeClr val="dk1"/>
              </a:solidFill>
            </a:endParaRPr>
          </a:p>
          <a:p>
            <a:pPr marL="457200" marR="0" lvl="0" indent="0" algn="l" rtl="0">
              <a:lnSpc>
                <a:spcPct val="100000"/>
              </a:lnSpc>
              <a:spcBef>
                <a:spcPts val="0"/>
              </a:spcBef>
              <a:spcAft>
                <a:spcPts val="0"/>
              </a:spcAft>
              <a:buNone/>
            </a:pPr>
            <a:endParaRPr sz="1100" dirty="0">
              <a:solidFill>
                <a:schemeClr val="dk1"/>
              </a:solidFill>
            </a:endParaRPr>
          </a:p>
          <a:p>
            <a:pPr marL="457200" marR="0" lvl="0" indent="0" algn="l" rtl="0">
              <a:lnSpc>
                <a:spcPct val="100000"/>
              </a:lnSpc>
              <a:spcBef>
                <a:spcPts val="0"/>
              </a:spcBef>
              <a:spcAft>
                <a:spcPts val="0"/>
              </a:spcAft>
              <a:buNone/>
            </a:pPr>
            <a:endParaRPr sz="1800" dirty="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dirty="0">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1BE55557-EF35-2FE9-AFD4-0A4236013725}"/>
              </a:ext>
            </a:extLst>
          </p:cNvPr>
          <p:cNvPicPr>
            <a:picLocks noChangeAspect="1"/>
          </p:cNvPicPr>
          <p:nvPr/>
        </p:nvPicPr>
        <p:blipFill>
          <a:blip r:embed="rId4"/>
          <a:stretch>
            <a:fillRect/>
          </a:stretch>
        </p:blipFill>
        <p:spPr>
          <a:xfrm>
            <a:off x="3524250" y="2243667"/>
            <a:ext cx="5143500" cy="44767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3de0fbb0b14_0_66"/>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K-Means ROC Curve Analysis</a:t>
            </a:r>
            <a:endParaRPr sz="1600" b="1" i="0" u="none" strike="noStrike" cap="none">
              <a:solidFill>
                <a:schemeClr val="lt1"/>
              </a:solidFill>
              <a:latin typeface="Arial Black"/>
              <a:ea typeface="Arial Black"/>
              <a:cs typeface="Arial Black"/>
              <a:sym typeface="Arial Black"/>
            </a:endParaRPr>
          </a:p>
        </p:txBody>
      </p:sp>
      <p:sp>
        <p:nvSpPr>
          <p:cNvPr id="374" name="Google Shape;374;g3de0fbb0b14_0_66"/>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75" name="Google Shape;375;g3de0fbb0b14_0_66"/>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76" name="Google Shape;376;g3de0fbb0b14_0_66"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77" name="Google Shape;377;g3de0fbb0b14_0_66"/>
          <p:cNvSpPr txBox="1"/>
          <p:nvPr/>
        </p:nvSpPr>
        <p:spPr>
          <a:xfrm>
            <a:off x="2096250" y="1305350"/>
            <a:ext cx="7928400" cy="14775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The ROC curve shows that the K-Means model achieves an AUC score of 0.6566, which indicates performance slightly better than random guessing</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b="0" i="0" u="none" strike="noStrike" cap="none">
                <a:solidFill>
                  <a:schemeClr val="dk1"/>
                </a:solidFill>
                <a:latin typeface="Arial"/>
                <a:ea typeface="Arial"/>
                <a:cs typeface="Arial"/>
                <a:sym typeface="Arial"/>
              </a:rPr>
              <a:t>AUC Score: </a:t>
            </a:r>
            <a:r>
              <a:rPr lang="en-US" sz="1800" b="1" i="0" u="none" strike="noStrike" cap="none">
                <a:solidFill>
                  <a:schemeClr val="dk1"/>
                </a:solidFill>
              </a:rPr>
              <a:t>0.</a:t>
            </a:r>
            <a:r>
              <a:rPr lang="en-US" sz="1800" b="1">
                <a:solidFill>
                  <a:schemeClr val="dk1"/>
                </a:solidFill>
              </a:rPr>
              <a:t>6566</a:t>
            </a:r>
            <a:endParaRPr sz="1800" b="1" i="0" u="none" strike="noStrike" cap="none">
              <a:solidFill>
                <a:schemeClr val="dk1"/>
              </a:solidFill>
            </a:endParaRPr>
          </a:p>
          <a:p>
            <a:pPr marL="45720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8" name="Google Shape;378;g3de0fbb0b14_0_66"/>
          <p:cNvSpPr txBox="1"/>
          <p:nvPr/>
        </p:nvSpPr>
        <p:spPr>
          <a:xfrm>
            <a:off x="5752749" y="1419650"/>
            <a:ext cx="4345200" cy="369300"/>
          </a:xfrm>
          <a:prstGeom prst="rect">
            <a:avLst/>
          </a:prstGeom>
          <a:noFill/>
          <a:ln>
            <a:noFill/>
          </a:ln>
        </p:spPr>
        <p:txBody>
          <a:bodyPr spcFirstLastPara="1" wrap="square" lIns="91425" tIns="45700" rIns="91425" bIns="45700" anchor="t" anchorCtr="0">
            <a:spAutoFit/>
          </a:bodyPr>
          <a:lstStyle/>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pic>
        <p:nvPicPr>
          <p:cNvPr id="379" name="Google Shape;379;g3de0fbb0b14_0_66"/>
          <p:cNvPicPr preferRelativeResize="0"/>
          <p:nvPr/>
        </p:nvPicPr>
        <p:blipFill>
          <a:blip r:embed="rId4">
            <a:alphaModFix/>
          </a:blip>
          <a:stretch>
            <a:fillRect/>
          </a:stretch>
        </p:blipFill>
        <p:spPr>
          <a:xfrm>
            <a:off x="3179300" y="2651975"/>
            <a:ext cx="4603925" cy="3645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g3de0fbb0b14_0_79"/>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Justification for Using K-Means</a:t>
            </a:r>
            <a:endParaRPr sz="1600" b="1" i="0" u="none" strike="noStrike" cap="none">
              <a:solidFill>
                <a:schemeClr val="lt1"/>
              </a:solidFill>
              <a:latin typeface="Arial Black"/>
              <a:ea typeface="Arial Black"/>
              <a:cs typeface="Arial Black"/>
              <a:sym typeface="Arial Black"/>
            </a:endParaRPr>
          </a:p>
        </p:txBody>
      </p:sp>
      <p:sp>
        <p:nvSpPr>
          <p:cNvPr id="385" name="Google Shape;385;g3de0fbb0b14_0_79"/>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86" name="Google Shape;386;g3de0fbb0b14_0_79"/>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87" name="Google Shape;387;g3de0fbb0b14_0_79"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88" name="Google Shape;388;g3de0fbb0b14_0_79"/>
          <p:cNvSpPr txBox="1"/>
          <p:nvPr/>
        </p:nvSpPr>
        <p:spPr>
          <a:xfrm>
            <a:off x="2096250" y="1305350"/>
            <a:ext cx="7928400" cy="49716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1">
                <a:solidFill>
                  <a:schemeClr val="dk1"/>
                </a:solidFill>
              </a:rPr>
              <a:t>Limitations (Standalone Use)</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Unsupervised → </a:t>
            </a:r>
            <a:r>
              <a:rPr lang="en-US" sz="1800" b="1">
                <a:solidFill>
                  <a:schemeClr val="dk1"/>
                </a:solidFill>
              </a:rPr>
              <a:t>no use of class labels</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Relies on </a:t>
            </a:r>
            <a:r>
              <a:rPr lang="en-US" sz="1800" b="1">
                <a:solidFill>
                  <a:schemeClr val="dk1"/>
                </a:solidFill>
              </a:rPr>
              <a:t>distance-based clustering</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Struggles with </a:t>
            </a:r>
            <a:r>
              <a:rPr lang="en-US" sz="1800" b="1">
                <a:solidFill>
                  <a:schemeClr val="dk1"/>
                </a:solidFill>
              </a:rPr>
              <a:t>diverse attack patterns</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Class imbalance → biased toward </a:t>
            </a:r>
            <a:r>
              <a:rPr lang="en-US" sz="1800" b="1">
                <a:solidFill>
                  <a:schemeClr val="dk1"/>
                </a:solidFill>
              </a:rPr>
              <a:t>benign traffic</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Overlap between </a:t>
            </a:r>
            <a:r>
              <a:rPr lang="en-US" sz="1800" b="1">
                <a:solidFill>
                  <a:schemeClr val="dk1"/>
                </a:solidFill>
              </a:rPr>
              <a:t>benign &amp; attack clusters</a:t>
            </a:r>
            <a:endParaRPr sz="1100" b="1">
              <a:solidFill>
                <a:schemeClr val="dk1"/>
              </a:solidFill>
            </a:endParaRPr>
          </a:p>
          <a:p>
            <a:pPr marL="457200" marR="0" lvl="0" indent="0" algn="l" rtl="0">
              <a:lnSpc>
                <a:spcPct val="100000"/>
              </a:lnSpc>
              <a:spcBef>
                <a:spcPts val="0"/>
              </a:spcBef>
              <a:spcAft>
                <a:spcPts val="0"/>
              </a:spcAft>
              <a:buNone/>
            </a:pPr>
            <a:endParaRPr sz="11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K-Means clustering has limitations as a standalone classifier because it does not use class labels and relies purely on distance-based grouping. This makes it less effective for classification tasks, especially in intrusion detection where attack patterns are highly diverse and often overlap with benign traffic.</a:t>
            </a:r>
            <a:endParaRPr sz="1800">
              <a:solidFill>
                <a:schemeClr val="dk1"/>
              </a:solidFill>
            </a:endParaRPr>
          </a:p>
          <a:p>
            <a:pPr marL="457200" marR="0" lvl="0" indent="0" algn="l" rtl="0">
              <a:lnSpc>
                <a:spcPct val="100000"/>
              </a:lnSpc>
              <a:spcBef>
                <a:spcPts val="0"/>
              </a:spcBef>
              <a:spcAft>
                <a:spcPts val="0"/>
              </a:spcAft>
              <a:buNone/>
            </a:pP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K-Means plays an important role in the hybrid model as a feature engineering tool. It helps uncover hidden structures in the data and generates additional features such as cluster labels and distance-to-centroid measures.</a:t>
            </a:r>
            <a:endParaRPr sz="180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3de0fbb0b14_0_91"/>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dirty="0">
                <a:solidFill>
                  <a:schemeClr val="lt1"/>
                </a:solidFill>
              </a:rPr>
              <a:t> Integration of features from Model 1 and Model 2</a:t>
            </a:r>
            <a:endParaRPr sz="1600" b="1" i="0" u="none" strike="noStrike" cap="none" dirty="0">
              <a:solidFill>
                <a:schemeClr val="lt1"/>
              </a:solidFill>
              <a:latin typeface="Arial Black"/>
              <a:ea typeface="Arial Black"/>
              <a:cs typeface="Arial Black"/>
              <a:sym typeface="Arial Black"/>
            </a:endParaRPr>
          </a:p>
        </p:txBody>
      </p:sp>
      <p:sp>
        <p:nvSpPr>
          <p:cNvPr id="394" name="Google Shape;394;g3de0fbb0b14_0_91"/>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95" name="Google Shape;395;g3de0fbb0b14_0_91"/>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96" name="Google Shape;396;g3de0fbb0b14_0_91"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397" name="Google Shape;397;g3de0fbb0b14_0_91"/>
          <p:cNvSpPr txBox="1"/>
          <p:nvPr/>
        </p:nvSpPr>
        <p:spPr>
          <a:xfrm>
            <a:off x="2096250" y="1305350"/>
            <a:ext cx="7928400" cy="3139281"/>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Hybrid Approach: Combines</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Supervised </a:t>
            </a:r>
            <a:r>
              <a:rPr lang="en-US" sz="1800" b="1" dirty="0">
                <a:solidFill>
                  <a:schemeClr val="dk1"/>
                </a:solidFill>
              </a:rPr>
              <a:t>(Random Forest)</a:t>
            </a:r>
            <a:endParaRPr sz="1800" b="1"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Unsupervised </a:t>
            </a:r>
            <a:r>
              <a:rPr lang="en-US" sz="1800" b="1" dirty="0">
                <a:solidFill>
                  <a:schemeClr val="dk1"/>
                </a:solidFill>
              </a:rPr>
              <a:t>(K-Means)</a:t>
            </a:r>
            <a:endParaRPr sz="1100" b="1" dirty="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Random Forest Features</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Prediction (</a:t>
            </a:r>
            <a:r>
              <a:rPr lang="en-US" sz="1800" b="1" dirty="0" err="1">
                <a:solidFill>
                  <a:schemeClr val="dk1"/>
                </a:solidFill>
              </a:rPr>
              <a:t>rf_pred</a:t>
            </a:r>
            <a:r>
              <a:rPr lang="en-US" sz="1800" dirty="0">
                <a:solidFill>
                  <a:schemeClr val="dk1"/>
                </a:solidFill>
              </a:rPr>
              <a:t>)</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Probability (</a:t>
            </a:r>
            <a:r>
              <a:rPr lang="en-US" sz="1800" b="1" dirty="0" err="1">
                <a:solidFill>
                  <a:schemeClr val="dk1"/>
                </a:solidFill>
              </a:rPr>
              <a:t>rf_prob</a:t>
            </a:r>
            <a:r>
              <a:rPr lang="en-US" sz="1800" dirty="0">
                <a:solidFill>
                  <a:schemeClr val="dk1"/>
                </a:solidFill>
              </a:rPr>
              <a:t>)</a:t>
            </a:r>
            <a:endParaRPr sz="1800" dirty="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Clustering Features:</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Cluster label (</a:t>
            </a:r>
            <a:r>
              <a:rPr lang="en-US" sz="1800" b="1" dirty="0" err="1">
                <a:solidFill>
                  <a:schemeClr val="dk1"/>
                </a:solidFill>
              </a:rPr>
              <a:t>cluster_pred</a:t>
            </a:r>
            <a:r>
              <a:rPr lang="en-US" sz="1800" dirty="0">
                <a:solidFill>
                  <a:schemeClr val="dk1"/>
                </a:solidFill>
              </a:rPr>
              <a:t>)</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Distances (</a:t>
            </a:r>
            <a:r>
              <a:rPr lang="en-US" sz="1800" b="1" dirty="0">
                <a:solidFill>
                  <a:schemeClr val="dk1"/>
                </a:solidFill>
              </a:rPr>
              <a:t>cluster_dist_0</a:t>
            </a:r>
            <a:r>
              <a:rPr lang="en-US" sz="1800" dirty="0">
                <a:solidFill>
                  <a:schemeClr val="dk1"/>
                </a:solidFill>
              </a:rPr>
              <a:t>, </a:t>
            </a:r>
            <a:r>
              <a:rPr lang="en-US" sz="1800" b="1" dirty="0">
                <a:solidFill>
                  <a:schemeClr val="dk1"/>
                </a:solidFill>
              </a:rPr>
              <a:t>cluster_dist_1</a:t>
            </a:r>
            <a:r>
              <a:rPr lang="en-US" sz="1800" dirty="0">
                <a:solidFill>
                  <a:schemeClr val="dk1"/>
                </a:solidFill>
              </a:rPr>
              <a:t>)</a:t>
            </a:r>
            <a:endParaRPr sz="1800" dirty="0">
              <a:solidFill>
                <a:schemeClr val="dk1"/>
              </a:solidFill>
            </a:endParaRPr>
          </a:p>
          <a:p>
            <a:pPr marL="457200" marR="0" lvl="0" indent="0" algn="l" rtl="0">
              <a:lnSpc>
                <a:spcPct val="100000"/>
              </a:lnSpc>
              <a:spcBef>
                <a:spcPts val="0"/>
              </a:spcBef>
              <a:spcAft>
                <a:spcPts val="0"/>
              </a:spcAft>
              <a:buNone/>
            </a:pPr>
            <a:endParaRPr sz="1800" dirty="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53957DCA-736E-ABFC-F66E-B8EB7F1154BE}"/>
            </a:ext>
          </a:extLst>
        </p:cNvPr>
        <p:cNvGrpSpPr/>
        <p:nvPr/>
      </p:nvGrpSpPr>
      <p:grpSpPr>
        <a:xfrm>
          <a:off x="0" y="0"/>
          <a:ext cx="0" cy="0"/>
          <a:chOff x="0" y="0"/>
          <a:chExt cx="0" cy="0"/>
        </a:xfrm>
      </p:grpSpPr>
      <p:sp>
        <p:nvSpPr>
          <p:cNvPr id="393" name="Google Shape;393;g3de0fbb0b14_0_91">
            <a:extLst>
              <a:ext uri="{FF2B5EF4-FFF2-40B4-BE49-F238E27FC236}">
                <a16:creationId xmlns:a16="http://schemas.microsoft.com/office/drawing/2014/main" id="{DCED3ED4-69E0-7FD9-E73C-600C68EE37E2}"/>
              </a:ext>
            </a:extLst>
          </p:cNvPr>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dirty="0">
                <a:solidFill>
                  <a:schemeClr val="lt1"/>
                </a:solidFill>
              </a:rPr>
              <a:t> Integration of features from Model 1 and Model 2</a:t>
            </a:r>
            <a:endParaRPr sz="1600" b="1" i="0" u="none" strike="noStrike" cap="none" dirty="0">
              <a:solidFill>
                <a:schemeClr val="lt1"/>
              </a:solidFill>
              <a:latin typeface="Arial Black"/>
              <a:ea typeface="Arial Black"/>
              <a:cs typeface="Arial Black"/>
              <a:sym typeface="Arial Black"/>
            </a:endParaRPr>
          </a:p>
        </p:txBody>
      </p:sp>
      <p:sp>
        <p:nvSpPr>
          <p:cNvPr id="394" name="Google Shape;394;g3de0fbb0b14_0_91">
            <a:extLst>
              <a:ext uri="{FF2B5EF4-FFF2-40B4-BE49-F238E27FC236}">
                <a16:creationId xmlns:a16="http://schemas.microsoft.com/office/drawing/2014/main" id="{25B372A7-07AD-4BA8-7141-AE54A5591011}"/>
              </a:ext>
            </a:extLst>
          </p:cNvPr>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395" name="Google Shape;395;g3de0fbb0b14_0_91">
            <a:extLst>
              <a:ext uri="{FF2B5EF4-FFF2-40B4-BE49-F238E27FC236}">
                <a16:creationId xmlns:a16="http://schemas.microsoft.com/office/drawing/2014/main" id="{C9240113-59C5-40D7-40FB-D442B23ED278}"/>
              </a:ext>
            </a:extLst>
          </p:cNvPr>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396" name="Google Shape;396;g3de0fbb0b14_0_91" descr="USD 4c Logo reverse.ai">
            <a:extLst>
              <a:ext uri="{FF2B5EF4-FFF2-40B4-BE49-F238E27FC236}">
                <a16:creationId xmlns:a16="http://schemas.microsoft.com/office/drawing/2014/main" id="{6FE816DB-777E-5DA3-A670-4EE378FE9543}"/>
              </a:ext>
            </a:extLst>
          </p:cNvPr>
          <p:cNvPicPr preferRelativeResize="0"/>
          <p:nvPr/>
        </p:nvPicPr>
        <p:blipFill rotWithShape="1">
          <a:blip r:embed="rId3">
            <a:alphaModFix/>
          </a:blip>
          <a:srcRect/>
          <a:stretch/>
        </p:blipFill>
        <p:spPr>
          <a:xfrm>
            <a:off x="9256377" y="147142"/>
            <a:ext cx="839368" cy="745402"/>
          </a:xfrm>
          <a:prstGeom prst="rect">
            <a:avLst/>
          </a:prstGeom>
          <a:noFill/>
          <a:ln>
            <a:noFill/>
          </a:ln>
        </p:spPr>
      </p:pic>
      <p:pic>
        <p:nvPicPr>
          <p:cNvPr id="3" name="Picture 2">
            <a:extLst>
              <a:ext uri="{FF2B5EF4-FFF2-40B4-BE49-F238E27FC236}">
                <a16:creationId xmlns:a16="http://schemas.microsoft.com/office/drawing/2014/main" id="{07AA35FB-529A-7BE6-EB80-F93F1304FDDD}"/>
              </a:ext>
            </a:extLst>
          </p:cNvPr>
          <p:cNvPicPr>
            <a:picLocks noChangeAspect="1"/>
          </p:cNvPicPr>
          <p:nvPr/>
        </p:nvPicPr>
        <p:blipFill>
          <a:blip r:embed="rId4"/>
          <a:stretch>
            <a:fillRect/>
          </a:stretch>
        </p:blipFill>
        <p:spPr>
          <a:xfrm>
            <a:off x="2184858" y="1473926"/>
            <a:ext cx="7841149" cy="3225073"/>
          </a:xfrm>
          <a:prstGeom prst="rect">
            <a:avLst/>
          </a:prstGeom>
        </p:spPr>
      </p:pic>
    </p:spTree>
    <p:extLst>
      <p:ext uri="{BB962C8B-B14F-4D97-AF65-F5344CB8AC3E}">
        <p14:creationId xmlns:p14="http://schemas.microsoft.com/office/powerpoint/2010/main" val="2561813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g3de0fbb0b14_0_102"/>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Dataset Preparation &amp; Model Optimization</a:t>
            </a:r>
            <a:endParaRPr sz="1600" b="1" i="0" u="none" strike="noStrike" cap="none">
              <a:solidFill>
                <a:schemeClr val="lt1"/>
              </a:solidFill>
              <a:latin typeface="Arial Black"/>
              <a:ea typeface="Arial Black"/>
              <a:cs typeface="Arial Black"/>
              <a:sym typeface="Arial Black"/>
            </a:endParaRPr>
          </a:p>
        </p:txBody>
      </p:sp>
      <p:sp>
        <p:nvSpPr>
          <p:cNvPr id="403" name="Google Shape;403;g3de0fbb0b14_0_102"/>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04" name="Google Shape;404;g3de0fbb0b14_0_102"/>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05" name="Google Shape;405;g3de0fbb0b14_0_102"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406" name="Google Shape;406;g3de0fbb0b14_0_102"/>
          <p:cNvSpPr txBox="1"/>
          <p:nvPr/>
        </p:nvSpPr>
        <p:spPr>
          <a:xfrm>
            <a:off x="2096250" y="1305350"/>
            <a:ext cx="7928400" cy="53565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Dataset Preparation</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Combined:</a:t>
            </a:r>
            <a:endParaRPr sz="180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Original + RF + K-Means features</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Feature Selection:</a:t>
            </a:r>
            <a:endParaRPr sz="180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b="1">
                <a:solidFill>
                  <a:schemeClr val="dk1"/>
                </a:solidFill>
              </a:rPr>
              <a:t>Top 20 features (RF importance)</a:t>
            </a:r>
            <a:endParaRPr sz="1800" b="1">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Added mandatory hybrid features</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Data Split:</a:t>
            </a:r>
            <a:endParaRPr sz="180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80:20 Train-Test</a:t>
            </a:r>
            <a:endParaRPr sz="180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Stratified sampling </a:t>
            </a:r>
            <a:endParaRPr sz="11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Hyperparameter Tuning (XGBoost)</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Method:</a:t>
            </a:r>
            <a:r>
              <a:rPr lang="en-US" sz="1800" b="1">
                <a:solidFill>
                  <a:schemeClr val="dk1"/>
                </a:solidFill>
              </a:rPr>
              <a:t> Grid Search + 3-fold CV</a:t>
            </a:r>
            <a:endParaRPr sz="1800" b="1">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Total: </a:t>
            </a:r>
            <a:r>
              <a:rPr lang="en-US" sz="1800" b="1">
                <a:solidFill>
                  <a:schemeClr val="dk1"/>
                </a:solidFill>
              </a:rPr>
              <a:t>48 model evaluations</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 Best Parameters:</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Learning rate = 0.1</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Max depth = 6</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Estimators = 200</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Subsample = 0.8</a:t>
            </a:r>
            <a:endParaRPr sz="1100">
              <a:solidFill>
                <a:schemeClr val="dk1"/>
              </a:solidFill>
            </a:endParaRPr>
          </a:p>
          <a:p>
            <a:pPr marL="0" marR="0" lvl="0" indent="0" algn="l" rtl="0">
              <a:lnSpc>
                <a:spcPct val="100000"/>
              </a:lnSpc>
              <a:spcBef>
                <a:spcPts val="0"/>
              </a:spcBef>
              <a:spcAft>
                <a:spcPts val="0"/>
              </a:spcAft>
              <a:buNone/>
            </a:pPr>
            <a:endParaRPr sz="180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g3de259e4b8e_0_56"/>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XGBoost Model Performance</a:t>
            </a:r>
            <a:endParaRPr sz="1600" b="1" i="0" u="none" strike="noStrike" cap="none">
              <a:solidFill>
                <a:schemeClr val="lt1"/>
              </a:solidFill>
              <a:latin typeface="Arial Black"/>
              <a:ea typeface="Arial Black"/>
              <a:cs typeface="Arial Black"/>
              <a:sym typeface="Arial Black"/>
            </a:endParaRPr>
          </a:p>
        </p:txBody>
      </p:sp>
      <p:sp>
        <p:nvSpPr>
          <p:cNvPr id="412" name="Google Shape;412;g3de259e4b8e_0_56"/>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13" name="Google Shape;413;g3de259e4b8e_0_56"/>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14" name="Google Shape;414;g3de259e4b8e_0_56"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415" name="Google Shape;415;g3de259e4b8e_0_56"/>
          <p:cNvSpPr txBox="1"/>
          <p:nvPr/>
        </p:nvSpPr>
        <p:spPr>
          <a:xfrm>
            <a:off x="2096250" y="1305350"/>
            <a:ext cx="7928400" cy="22011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1">
                <a:solidFill>
                  <a:schemeClr val="dk1"/>
                </a:solidFill>
              </a:rPr>
              <a:t>Accuracy / Precision / Recall / F1-score: 1.00</a:t>
            </a:r>
            <a:endParaRPr sz="1800" b="1">
              <a:solidFill>
                <a:schemeClr val="dk1"/>
              </a:solidFill>
            </a:endParaRPr>
          </a:p>
          <a:p>
            <a:pPr marL="285750" marR="0" lvl="0" indent="-285750" algn="l" rtl="0">
              <a:lnSpc>
                <a:spcPct val="100000"/>
              </a:lnSpc>
              <a:spcBef>
                <a:spcPts val="0"/>
              </a:spcBef>
              <a:spcAft>
                <a:spcPts val="0"/>
              </a:spcAft>
              <a:buClr>
                <a:schemeClr val="dk1"/>
              </a:buClr>
              <a:buSzPts val="1800"/>
              <a:buChar char="⮚"/>
            </a:pPr>
            <a:r>
              <a:rPr lang="en-US" sz="1800">
                <a:solidFill>
                  <a:schemeClr val="dk1"/>
                </a:solidFill>
              </a:rPr>
              <a:t>Confusion Matrix:</a:t>
            </a:r>
            <a:endParaRPr sz="1800">
              <a:solidFill>
                <a:schemeClr val="dk1"/>
              </a:solidFill>
            </a:endParaRPr>
          </a:p>
          <a:p>
            <a:pPr marL="914400" marR="0" lvl="1" indent="-342900" algn="l" rtl="0">
              <a:lnSpc>
                <a:spcPct val="100000"/>
              </a:lnSpc>
              <a:spcBef>
                <a:spcPts val="0"/>
              </a:spcBef>
              <a:spcAft>
                <a:spcPts val="0"/>
              </a:spcAft>
              <a:buClr>
                <a:schemeClr val="dk1"/>
              </a:buClr>
              <a:buSzPts val="1800"/>
              <a:buChar char="○"/>
            </a:pPr>
            <a:r>
              <a:rPr lang="en-US" sz="1800">
                <a:solidFill>
                  <a:schemeClr val="dk1"/>
                </a:solidFill>
              </a:rPr>
              <a:t>Very low False Positives: 76</a:t>
            </a:r>
            <a:endParaRPr sz="1800">
              <a:solidFill>
                <a:schemeClr val="dk1"/>
              </a:solidFill>
            </a:endParaRPr>
          </a:p>
          <a:p>
            <a:pPr marL="914400" marR="0" lvl="1" indent="-342900" algn="l" rtl="0">
              <a:lnSpc>
                <a:spcPct val="100000"/>
              </a:lnSpc>
              <a:spcBef>
                <a:spcPts val="0"/>
              </a:spcBef>
              <a:spcAft>
                <a:spcPts val="0"/>
              </a:spcAft>
              <a:buClr>
                <a:schemeClr val="dk1"/>
              </a:buClr>
              <a:buSzPts val="1800"/>
              <a:buChar char="○"/>
            </a:pPr>
            <a:r>
              <a:rPr lang="en-US" sz="1800">
                <a:solidFill>
                  <a:schemeClr val="dk1"/>
                </a:solidFill>
              </a:rPr>
              <a:t>Very low False Negatives: 109</a:t>
            </a:r>
            <a:endParaRPr sz="1100">
              <a:solidFill>
                <a:schemeClr val="dk1"/>
              </a:solidFill>
            </a:endParaRPr>
          </a:p>
          <a:p>
            <a:pPr marL="457200" marR="0" lvl="0" indent="0" algn="l" rtl="0">
              <a:lnSpc>
                <a:spcPct val="100000"/>
              </a:lnSpc>
              <a:spcBef>
                <a:spcPts val="0"/>
              </a:spcBef>
              <a:spcAft>
                <a:spcPts val="0"/>
              </a:spcAft>
              <a:buNone/>
            </a:pPr>
            <a:endParaRPr sz="1800" b="1">
              <a:solidFill>
                <a:schemeClr val="dk1"/>
              </a:solidFill>
            </a:endParaRPr>
          </a:p>
          <a:p>
            <a:pPr marL="457200" marR="0" lvl="0" indent="0" algn="l" rtl="0">
              <a:lnSpc>
                <a:spcPct val="100000"/>
              </a:lnSpc>
              <a:spcBef>
                <a:spcPts val="0"/>
              </a:spcBef>
              <a:spcAft>
                <a:spcPts val="0"/>
              </a:spcAft>
              <a:buNone/>
            </a:pPr>
            <a:endParaRPr sz="1100">
              <a:solidFill>
                <a:schemeClr val="dk1"/>
              </a:solidFill>
            </a:endParaRPr>
          </a:p>
          <a:p>
            <a:pPr marL="0" marR="0" lvl="0" indent="0" algn="l" rtl="0">
              <a:lnSpc>
                <a:spcPct val="100000"/>
              </a:lnSpc>
              <a:spcBef>
                <a:spcPts val="0"/>
              </a:spcBef>
              <a:spcAft>
                <a:spcPts val="0"/>
              </a:spcAft>
              <a:buNone/>
            </a:pPr>
            <a:endParaRPr sz="180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pic>
        <p:nvPicPr>
          <p:cNvPr id="416" name="Google Shape;416;g3de259e4b8e_0_56"/>
          <p:cNvPicPr preferRelativeResize="0"/>
          <p:nvPr/>
        </p:nvPicPr>
        <p:blipFill>
          <a:blip r:embed="rId4">
            <a:alphaModFix/>
          </a:blip>
          <a:stretch>
            <a:fillRect/>
          </a:stretch>
        </p:blipFill>
        <p:spPr>
          <a:xfrm>
            <a:off x="3762800" y="2678850"/>
            <a:ext cx="4492200" cy="38409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g3de259e4b8e_0_70"/>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XGBoost Model Performance</a:t>
            </a:r>
            <a:endParaRPr sz="1600" b="1" i="0" u="none" strike="noStrike" cap="none">
              <a:solidFill>
                <a:schemeClr val="lt1"/>
              </a:solidFill>
              <a:latin typeface="Arial Black"/>
              <a:ea typeface="Arial Black"/>
              <a:cs typeface="Arial Black"/>
              <a:sym typeface="Arial Black"/>
            </a:endParaRPr>
          </a:p>
        </p:txBody>
      </p:sp>
      <p:sp>
        <p:nvSpPr>
          <p:cNvPr id="422" name="Google Shape;422;g3de259e4b8e_0_70"/>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23" name="Google Shape;423;g3de259e4b8e_0_70"/>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24" name="Google Shape;424;g3de259e4b8e_0_70"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425" name="Google Shape;425;g3de259e4b8e_0_70"/>
          <p:cNvSpPr txBox="1"/>
          <p:nvPr/>
        </p:nvSpPr>
        <p:spPr>
          <a:xfrm>
            <a:off x="2096250" y="1305350"/>
            <a:ext cx="7928400" cy="12006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1">
                <a:solidFill>
                  <a:schemeClr val="dk1"/>
                </a:solidFill>
              </a:rPr>
              <a:t>ROC Curve</a:t>
            </a:r>
            <a:endParaRPr sz="1800" b="1">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1">
                <a:solidFill>
                  <a:schemeClr val="dk1"/>
                </a:solidFill>
              </a:rPr>
              <a:t>AUC Score: 0.9999</a:t>
            </a:r>
            <a:endParaRPr sz="1800" b="1">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Near-perfect </a:t>
            </a:r>
            <a:r>
              <a:rPr lang="en-US" sz="1800" b="1">
                <a:solidFill>
                  <a:schemeClr val="dk1"/>
                </a:solidFill>
              </a:rPr>
              <a:t>class separation</a:t>
            </a:r>
            <a:endParaRPr sz="1800" b="1">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p:txBody>
      </p:sp>
      <p:pic>
        <p:nvPicPr>
          <p:cNvPr id="426" name="Google Shape;426;g3de259e4b8e_0_70"/>
          <p:cNvPicPr preferRelativeResize="0"/>
          <p:nvPr/>
        </p:nvPicPr>
        <p:blipFill>
          <a:blip r:embed="rId4">
            <a:alphaModFix/>
          </a:blip>
          <a:stretch>
            <a:fillRect/>
          </a:stretch>
        </p:blipFill>
        <p:spPr>
          <a:xfrm>
            <a:off x="2945525" y="2439550"/>
            <a:ext cx="5239860" cy="39933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g3de259e4b8e_0_82"/>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XGBoost Model Performance</a:t>
            </a:r>
            <a:endParaRPr sz="1600" b="1" i="0" u="none" strike="noStrike" cap="none">
              <a:solidFill>
                <a:schemeClr val="lt1"/>
              </a:solidFill>
              <a:latin typeface="Arial Black"/>
              <a:ea typeface="Arial Black"/>
              <a:cs typeface="Arial Black"/>
              <a:sym typeface="Arial Black"/>
            </a:endParaRPr>
          </a:p>
        </p:txBody>
      </p:sp>
      <p:sp>
        <p:nvSpPr>
          <p:cNvPr id="432" name="Google Shape;432;g3de259e4b8e_0_82"/>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33" name="Google Shape;433;g3de259e4b8e_0_82"/>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34" name="Google Shape;434;g3de259e4b8e_0_82"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435" name="Google Shape;435;g3de259e4b8e_0_82"/>
          <p:cNvSpPr txBox="1"/>
          <p:nvPr/>
        </p:nvSpPr>
        <p:spPr>
          <a:xfrm>
            <a:off x="2096250" y="1305350"/>
            <a:ext cx="7928400" cy="14775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1">
                <a:solidFill>
                  <a:schemeClr val="dk1"/>
                </a:solidFill>
              </a:rPr>
              <a:t>Learning Curve:</a:t>
            </a:r>
            <a:endParaRPr sz="1800" b="1">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Training: ~0.997</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Validation: ~0.996</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Minimal gap </a:t>
            </a:r>
            <a:r>
              <a:rPr lang="en-US" sz="1800" b="1">
                <a:solidFill>
                  <a:schemeClr val="dk1"/>
                </a:solidFill>
              </a:rPr>
              <a:t>→ no overfitting</a:t>
            </a:r>
            <a:endParaRPr sz="1800" b="1">
              <a:solidFill>
                <a:schemeClr val="dk1"/>
              </a:solidFill>
            </a:endParaRPr>
          </a:p>
          <a:p>
            <a:pPr marL="457200" marR="0" lvl="0" indent="0" algn="l" rtl="0">
              <a:lnSpc>
                <a:spcPct val="100000"/>
              </a:lnSpc>
              <a:spcBef>
                <a:spcPts val="0"/>
              </a:spcBef>
              <a:spcAft>
                <a:spcPts val="0"/>
              </a:spcAft>
              <a:buNone/>
            </a:pPr>
            <a:endParaRPr sz="1800" b="1">
              <a:solidFill>
                <a:schemeClr val="dk1"/>
              </a:solidFill>
            </a:endParaRPr>
          </a:p>
        </p:txBody>
      </p:sp>
      <p:pic>
        <p:nvPicPr>
          <p:cNvPr id="436" name="Google Shape;436;g3de259e4b8e_0_82"/>
          <p:cNvPicPr preferRelativeResize="0"/>
          <p:nvPr/>
        </p:nvPicPr>
        <p:blipFill>
          <a:blip r:embed="rId4">
            <a:alphaModFix/>
          </a:blip>
          <a:stretch>
            <a:fillRect/>
          </a:stretch>
        </p:blipFill>
        <p:spPr>
          <a:xfrm>
            <a:off x="2894050" y="2930450"/>
            <a:ext cx="5206500" cy="3669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g3de259e4b8e_0_93"/>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Feature Importance &amp; Key Insights</a:t>
            </a:r>
            <a:endParaRPr sz="1600" b="1" i="0" u="none" strike="noStrike" cap="none">
              <a:solidFill>
                <a:schemeClr val="lt1"/>
              </a:solidFill>
              <a:latin typeface="Arial Black"/>
              <a:ea typeface="Arial Black"/>
              <a:cs typeface="Arial Black"/>
              <a:sym typeface="Arial Black"/>
            </a:endParaRPr>
          </a:p>
        </p:txBody>
      </p:sp>
      <p:sp>
        <p:nvSpPr>
          <p:cNvPr id="442" name="Google Shape;442;g3de259e4b8e_0_93"/>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43" name="Google Shape;443;g3de259e4b8e_0_93"/>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44" name="Google Shape;444;g3de259e4b8e_0_93"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445" name="Google Shape;445;g3de259e4b8e_0_93"/>
          <p:cNvSpPr txBox="1"/>
          <p:nvPr/>
        </p:nvSpPr>
        <p:spPr>
          <a:xfrm>
            <a:off x="2096250" y="1305350"/>
            <a:ext cx="5206200" cy="1077300"/>
          </a:xfrm>
          <a:prstGeom prst="rect">
            <a:avLst/>
          </a:prstGeom>
          <a:noFill/>
          <a:ln>
            <a:noFill/>
          </a:ln>
        </p:spPr>
        <p:txBody>
          <a:bodyPr spcFirstLastPara="1" wrap="square" lIns="91425" tIns="45700" rIns="91425" bIns="45700" anchor="t" anchorCtr="0">
            <a:spAutoFit/>
          </a:bodyPr>
          <a:lstStyle/>
          <a:p>
            <a:pPr marL="285750" marR="0" lvl="0" indent="-273050" algn="l" rtl="0">
              <a:lnSpc>
                <a:spcPct val="100000"/>
              </a:lnSpc>
              <a:spcBef>
                <a:spcPts val="0"/>
              </a:spcBef>
              <a:spcAft>
                <a:spcPts val="0"/>
              </a:spcAft>
              <a:buClr>
                <a:schemeClr val="dk1"/>
              </a:buClr>
              <a:buSzPts val="1600"/>
              <a:buFont typeface="Noto Sans Symbols"/>
              <a:buChar char="⮚"/>
            </a:pPr>
            <a:r>
              <a:rPr lang="en-US" sz="1600" b="1">
                <a:solidFill>
                  <a:schemeClr val="dk1"/>
                </a:solidFill>
              </a:rPr>
              <a:t>rf_prob </a:t>
            </a:r>
            <a:r>
              <a:rPr lang="en-US" sz="1600">
                <a:solidFill>
                  <a:schemeClr val="dk1"/>
                </a:solidFill>
              </a:rPr>
              <a:t>→ Most dominant feature</a:t>
            </a:r>
            <a:endParaRPr sz="1600">
              <a:solidFill>
                <a:schemeClr val="dk1"/>
              </a:solidFill>
            </a:endParaRPr>
          </a:p>
          <a:p>
            <a:pPr marL="285750" marR="0" lvl="0" indent="-273050" algn="l" rtl="0">
              <a:lnSpc>
                <a:spcPct val="100000"/>
              </a:lnSpc>
              <a:spcBef>
                <a:spcPts val="0"/>
              </a:spcBef>
              <a:spcAft>
                <a:spcPts val="0"/>
              </a:spcAft>
              <a:buClr>
                <a:schemeClr val="dk1"/>
              </a:buClr>
              <a:buSzPts val="1600"/>
              <a:buFont typeface="Noto Sans Symbols"/>
              <a:buChar char="⮚"/>
            </a:pPr>
            <a:r>
              <a:rPr lang="en-US" sz="1600">
                <a:solidFill>
                  <a:schemeClr val="dk1"/>
                </a:solidFill>
              </a:rPr>
              <a:t>Clustering features → Support complex cases </a:t>
            </a:r>
            <a:endParaRPr sz="1600">
              <a:solidFill>
                <a:schemeClr val="dk1"/>
              </a:solidFill>
            </a:endParaRPr>
          </a:p>
          <a:p>
            <a:pPr marL="457200" marR="0" lvl="0" indent="0" algn="l" rtl="0">
              <a:lnSpc>
                <a:spcPct val="100000"/>
              </a:lnSpc>
              <a:spcBef>
                <a:spcPts val="0"/>
              </a:spcBef>
              <a:spcAft>
                <a:spcPts val="0"/>
              </a:spcAft>
              <a:buNone/>
            </a:pPr>
            <a:endParaRPr sz="1600" b="1">
              <a:solidFill>
                <a:schemeClr val="dk1"/>
              </a:solidFill>
            </a:endParaRPr>
          </a:p>
          <a:p>
            <a:pPr marL="457200" marR="0" lvl="0" indent="0" algn="l" rtl="0">
              <a:lnSpc>
                <a:spcPct val="100000"/>
              </a:lnSpc>
              <a:spcBef>
                <a:spcPts val="0"/>
              </a:spcBef>
              <a:spcAft>
                <a:spcPts val="0"/>
              </a:spcAft>
              <a:buNone/>
            </a:pPr>
            <a:endParaRPr sz="1600" b="1">
              <a:solidFill>
                <a:schemeClr val="dk1"/>
              </a:solidFill>
            </a:endParaRPr>
          </a:p>
        </p:txBody>
      </p:sp>
      <p:pic>
        <p:nvPicPr>
          <p:cNvPr id="446" name="Google Shape;446;g3de259e4b8e_0_93"/>
          <p:cNvPicPr preferRelativeResize="0"/>
          <p:nvPr/>
        </p:nvPicPr>
        <p:blipFill>
          <a:blip r:embed="rId4">
            <a:alphaModFix/>
          </a:blip>
          <a:stretch>
            <a:fillRect/>
          </a:stretch>
        </p:blipFill>
        <p:spPr>
          <a:xfrm>
            <a:off x="2392075" y="1944125"/>
            <a:ext cx="6625425" cy="2891325"/>
          </a:xfrm>
          <a:prstGeom prst="rect">
            <a:avLst/>
          </a:prstGeom>
          <a:noFill/>
          <a:ln>
            <a:noFill/>
          </a:ln>
        </p:spPr>
      </p:pic>
      <p:sp>
        <p:nvSpPr>
          <p:cNvPr id="447" name="Google Shape;447;g3de259e4b8e_0_93"/>
          <p:cNvSpPr txBox="1"/>
          <p:nvPr/>
        </p:nvSpPr>
        <p:spPr>
          <a:xfrm>
            <a:off x="2096250" y="4835450"/>
            <a:ext cx="8001600" cy="2108700"/>
          </a:xfrm>
          <a:prstGeom prst="rect">
            <a:avLst/>
          </a:prstGeom>
          <a:noFill/>
          <a:ln>
            <a:noFill/>
          </a:ln>
        </p:spPr>
        <p:txBody>
          <a:bodyPr spcFirstLastPara="1" wrap="square" lIns="91425" tIns="91425" rIns="91425" bIns="91425" anchor="t" anchorCtr="0">
            <a:spAutoFit/>
          </a:bodyPr>
          <a:lstStyle/>
          <a:p>
            <a:pPr marL="285750" marR="0" lvl="0" indent="-273050" algn="l" rtl="0">
              <a:lnSpc>
                <a:spcPct val="100000"/>
              </a:lnSpc>
              <a:spcBef>
                <a:spcPts val="0"/>
              </a:spcBef>
              <a:spcAft>
                <a:spcPts val="0"/>
              </a:spcAft>
              <a:buClr>
                <a:schemeClr val="dk1"/>
              </a:buClr>
              <a:buSzPts val="1600"/>
              <a:buFont typeface="Noto Sans Symbols"/>
              <a:buChar char="⮚"/>
            </a:pPr>
            <a:r>
              <a:rPr lang="en-US" sz="1600" b="1">
                <a:solidFill>
                  <a:schemeClr val="dk1"/>
                </a:solidFill>
              </a:rPr>
              <a:t>Hybrid model combines:</a:t>
            </a:r>
            <a:endParaRPr sz="1600" b="1">
              <a:solidFill>
                <a:schemeClr val="dk1"/>
              </a:solidFill>
            </a:endParaRPr>
          </a:p>
          <a:p>
            <a:pPr marL="914400" marR="0" lvl="1" indent="-330200" algn="l" rtl="0">
              <a:lnSpc>
                <a:spcPct val="100000"/>
              </a:lnSpc>
              <a:spcBef>
                <a:spcPts val="0"/>
              </a:spcBef>
              <a:spcAft>
                <a:spcPts val="0"/>
              </a:spcAft>
              <a:buClr>
                <a:schemeClr val="dk1"/>
              </a:buClr>
              <a:buSzPts val="1600"/>
              <a:buFont typeface="Noto Sans Symbols"/>
              <a:buChar char="○"/>
            </a:pPr>
            <a:r>
              <a:rPr lang="en-US" sz="1600">
                <a:solidFill>
                  <a:schemeClr val="dk1"/>
                </a:solidFill>
              </a:rPr>
              <a:t>Supervised predictions</a:t>
            </a:r>
            <a:endParaRPr sz="1600">
              <a:solidFill>
                <a:schemeClr val="dk1"/>
              </a:solidFill>
            </a:endParaRPr>
          </a:p>
          <a:p>
            <a:pPr marL="914400" marR="0" lvl="1" indent="-330200" algn="l" rtl="0">
              <a:lnSpc>
                <a:spcPct val="100000"/>
              </a:lnSpc>
              <a:spcBef>
                <a:spcPts val="0"/>
              </a:spcBef>
              <a:spcAft>
                <a:spcPts val="0"/>
              </a:spcAft>
              <a:buClr>
                <a:schemeClr val="dk1"/>
              </a:buClr>
              <a:buSzPts val="1600"/>
              <a:buFont typeface="Noto Sans Symbols"/>
              <a:buChar char="○"/>
            </a:pPr>
            <a:r>
              <a:rPr lang="en-US" sz="1600">
                <a:solidFill>
                  <a:schemeClr val="dk1"/>
                </a:solidFill>
              </a:rPr>
              <a:t>Clustering patterns</a:t>
            </a:r>
            <a:endParaRPr sz="1600">
              <a:solidFill>
                <a:schemeClr val="dk1"/>
              </a:solidFill>
            </a:endParaRPr>
          </a:p>
          <a:p>
            <a:pPr marL="914400" marR="0" lvl="1" indent="-330200" algn="l" rtl="0">
              <a:lnSpc>
                <a:spcPct val="100000"/>
              </a:lnSpc>
              <a:spcBef>
                <a:spcPts val="0"/>
              </a:spcBef>
              <a:spcAft>
                <a:spcPts val="0"/>
              </a:spcAft>
              <a:buClr>
                <a:schemeClr val="dk1"/>
              </a:buClr>
              <a:buSzPts val="1600"/>
              <a:buFont typeface="Noto Sans Symbols"/>
              <a:buChar char="○"/>
            </a:pPr>
            <a:r>
              <a:rPr lang="en-US" sz="1600">
                <a:solidFill>
                  <a:schemeClr val="dk1"/>
                </a:solidFill>
              </a:rPr>
              <a:t>XGBoost optimization</a:t>
            </a:r>
            <a:endParaRPr sz="1600">
              <a:solidFill>
                <a:schemeClr val="dk1"/>
              </a:solidFill>
            </a:endParaRPr>
          </a:p>
          <a:p>
            <a:pPr marL="285750" marR="0" lvl="0" indent="-273050" algn="l" rtl="0">
              <a:lnSpc>
                <a:spcPct val="100000"/>
              </a:lnSpc>
              <a:spcBef>
                <a:spcPts val="0"/>
              </a:spcBef>
              <a:spcAft>
                <a:spcPts val="0"/>
              </a:spcAft>
              <a:buClr>
                <a:schemeClr val="dk1"/>
              </a:buClr>
              <a:buSzPts val="1600"/>
              <a:buFont typeface="Noto Sans Symbols"/>
              <a:buChar char="⮚"/>
            </a:pPr>
            <a:r>
              <a:rPr lang="en-US" sz="1600">
                <a:solidFill>
                  <a:schemeClr val="dk1"/>
                </a:solidFill>
              </a:rPr>
              <a:t>Strong decision boundaries</a:t>
            </a:r>
            <a:endParaRPr sz="1600">
              <a:solidFill>
                <a:schemeClr val="dk1"/>
              </a:solidFill>
            </a:endParaRPr>
          </a:p>
          <a:p>
            <a:pPr marL="285750" marR="0" lvl="0" indent="-273050" algn="l" rtl="0">
              <a:lnSpc>
                <a:spcPct val="100000"/>
              </a:lnSpc>
              <a:spcBef>
                <a:spcPts val="0"/>
              </a:spcBef>
              <a:spcAft>
                <a:spcPts val="0"/>
              </a:spcAft>
              <a:buClr>
                <a:schemeClr val="dk1"/>
              </a:buClr>
              <a:buSzPts val="1600"/>
              <a:buFont typeface="Noto Sans Symbols"/>
              <a:buChar char="⮚"/>
            </a:pPr>
            <a:r>
              <a:rPr lang="en-US" sz="1600">
                <a:solidFill>
                  <a:schemeClr val="dk1"/>
                </a:solidFill>
              </a:rPr>
              <a:t>Improved detection accuracy</a:t>
            </a:r>
            <a:endParaRPr sz="1600">
              <a:solidFill>
                <a:schemeClr val="dk1"/>
              </a:solidFill>
            </a:endParaRPr>
          </a:p>
          <a:p>
            <a:pPr marL="285750" marR="0" lvl="0" indent="-273050" algn="l" rtl="0">
              <a:lnSpc>
                <a:spcPct val="100000"/>
              </a:lnSpc>
              <a:spcBef>
                <a:spcPts val="0"/>
              </a:spcBef>
              <a:spcAft>
                <a:spcPts val="0"/>
              </a:spcAft>
              <a:buClr>
                <a:schemeClr val="dk1"/>
              </a:buClr>
              <a:buSzPts val="1600"/>
              <a:buFont typeface="Noto Sans Symbols"/>
              <a:buChar char="⮚"/>
            </a:pPr>
            <a:r>
              <a:rPr lang="en-US" sz="1600">
                <a:solidFill>
                  <a:schemeClr val="dk1"/>
                </a:solidFill>
              </a:rPr>
              <a:t>Robust performance</a:t>
            </a:r>
            <a:endParaRPr sz="1300">
              <a:solidFill>
                <a:schemeClr val="dk1"/>
              </a:solidFill>
            </a:endParaRPr>
          </a:p>
          <a:p>
            <a:pPr marL="457200" lvl="0" indent="0" algn="l" rtl="0">
              <a:spcBef>
                <a:spcPts val="0"/>
              </a:spcBef>
              <a:spcAft>
                <a:spcPts val="0"/>
              </a:spcAft>
              <a:buNone/>
            </a:pPr>
            <a:endParaRPr sz="13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g3de259e4b8e_0_0"/>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Conclusion</a:t>
            </a:r>
            <a:endParaRPr sz="1600" b="1" i="0" u="none" strike="noStrike" cap="none">
              <a:solidFill>
                <a:schemeClr val="lt1"/>
              </a:solidFill>
              <a:latin typeface="Arial Black"/>
              <a:ea typeface="Arial Black"/>
              <a:cs typeface="Arial Black"/>
              <a:sym typeface="Arial Black"/>
            </a:endParaRPr>
          </a:p>
        </p:txBody>
      </p:sp>
      <p:sp>
        <p:nvSpPr>
          <p:cNvPr id="453" name="Google Shape;453;g3de259e4b8e_0_0"/>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54" name="Google Shape;454;g3de259e4b8e_0_0"/>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55" name="Google Shape;455;g3de259e4b8e_0_0"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456" name="Google Shape;456;g3de259e4b8e_0_0"/>
          <p:cNvSpPr txBox="1"/>
          <p:nvPr/>
        </p:nvSpPr>
        <p:spPr>
          <a:xfrm>
            <a:off x="2096250" y="1305350"/>
            <a:ext cx="7928400" cy="4525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Developed a </a:t>
            </a:r>
            <a:r>
              <a:rPr lang="en-US" sz="1800" b="1" dirty="0">
                <a:solidFill>
                  <a:schemeClr val="dk1"/>
                </a:solidFill>
              </a:rPr>
              <a:t>Hybrid Intrusion Detection System (IDS)</a:t>
            </a:r>
            <a:endParaRPr sz="1800" b="1" dirty="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Integrated:</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1" dirty="0">
                <a:solidFill>
                  <a:schemeClr val="dk1"/>
                </a:solidFill>
              </a:rPr>
              <a:t>Random Forest (Supervised)</a:t>
            </a:r>
            <a:endParaRPr sz="1800" b="1"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1" dirty="0">
                <a:solidFill>
                  <a:schemeClr val="dk1"/>
                </a:solidFill>
              </a:rPr>
              <a:t>K-Means (Unsupervised)</a:t>
            </a:r>
            <a:endParaRPr sz="1800" b="1"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b="1" dirty="0" err="1">
                <a:solidFill>
                  <a:schemeClr val="dk1"/>
                </a:solidFill>
              </a:rPr>
              <a:t>XGBoost</a:t>
            </a:r>
            <a:r>
              <a:rPr lang="en-US" sz="1800" b="1" dirty="0">
                <a:solidFill>
                  <a:schemeClr val="dk1"/>
                </a:solidFill>
              </a:rPr>
              <a:t> (Final Supervised Model)</a:t>
            </a:r>
            <a:endParaRPr sz="1800" b="1" dirty="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Key Achievements:</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High detection accuracy (~99%)</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Effective handling of class imbalance</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Improved detection of attack traffic</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Reduced false negatives</a:t>
            </a:r>
            <a:endParaRPr sz="1800" dirty="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Hybrid approach outperforms standalone models</a:t>
            </a:r>
            <a:endParaRPr sz="1800" dirty="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Combines</a:t>
            </a:r>
            <a:r>
              <a:rPr lang="en-US" sz="1800" b="1" dirty="0">
                <a:solidFill>
                  <a:schemeClr val="dk1"/>
                </a:solidFill>
              </a:rPr>
              <a:t> prediction + pattern discovery</a:t>
            </a:r>
            <a:endParaRPr sz="1800" b="1" dirty="0">
              <a:solidFill>
                <a:schemeClr val="dk1"/>
              </a:solidFill>
            </a:endParaRPr>
          </a:p>
          <a:p>
            <a:pPr marL="0" marR="0" lvl="0" indent="0" algn="l" rtl="0">
              <a:lnSpc>
                <a:spcPct val="100000"/>
              </a:lnSpc>
              <a:spcBef>
                <a:spcPts val="0"/>
              </a:spcBef>
              <a:spcAft>
                <a:spcPts val="0"/>
              </a:spcAft>
              <a:buNone/>
            </a:pPr>
            <a:endParaRPr sz="1800" dirty="0">
              <a:solidFill>
                <a:schemeClr val="dk1"/>
              </a:solidFill>
            </a:endParaRPr>
          </a:p>
          <a:p>
            <a:pPr marL="0" marR="0" lvl="0" indent="0" algn="l" rtl="0">
              <a:lnSpc>
                <a:spcPct val="100000"/>
              </a:lnSpc>
              <a:spcBef>
                <a:spcPts val="0"/>
              </a:spcBef>
              <a:spcAft>
                <a:spcPts val="0"/>
              </a:spcAft>
              <a:buNone/>
            </a:pPr>
            <a:r>
              <a:rPr lang="en-US" sz="1800" dirty="0">
                <a:solidFill>
                  <a:schemeClr val="dk1"/>
                </a:solidFill>
              </a:rPr>
              <a:t>The hybrid approach significantly enhances intrusion detection by combining prediction accuracy with pattern discovery</a:t>
            </a:r>
            <a:endParaRPr sz="1800" dirty="0">
              <a:solidFill>
                <a:schemeClr val="dk1"/>
              </a:solidFill>
            </a:endParaRPr>
          </a:p>
          <a:p>
            <a:pPr marL="742950" marR="0" lvl="1" indent="-171450" algn="l" rtl="0">
              <a:lnSpc>
                <a:spcPct val="100000"/>
              </a:lnSpc>
              <a:spcBef>
                <a:spcPts val="0"/>
              </a:spcBef>
              <a:spcAft>
                <a:spcPts val="0"/>
              </a:spcAft>
              <a:buClr>
                <a:schemeClr val="dk1"/>
              </a:buClr>
              <a:buSzPts val="1800"/>
              <a:buFont typeface="Noto Sans Symbols"/>
              <a:buNone/>
            </a:pP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g3de259e4b8e_0_110"/>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Conclusion</a:t>
            </a:r>
            <a:endParaRPr sz="1600" b="1" i="0" u="none" strike="noStrike" cap="none">
              <a:solidFill>
                <a:schemeClr val="lt1"/>
              </a:solidFill>
              <a:latin typeface="Arial Black"/>
              <a:ea typeface="Arial Black"/>
              <a:cs typeface="Arial Black"/>
              <a:sym typeface="Arial Black"/>
            </a:endParaRPr>
          </a:p>
        </p:txBody>
      </p:sp>
      <p:sp>
        <p:nvSpPr>
          <p:cNvPr id="462" name="Google Shape;462;g3de259e4b8e_0_110"/>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63" name="Google Shape;463;g3de259e4b8e_0_110"/>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64" name="Google Shape;464;g3de259e4b8e_0_110"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pic>
        <p:nvPicPr>
          <p:cNvPr id="465" name="Google Shape;465;g3de259e4b8e_0_110"/>
          <p:cNvPicPr preferRelativeResize="0"/>
          <p:nvPr/>
        </p:nvPicPr>
        <p:blipFill>
          <a:blip r:embed="rId4">
            <a:alphaModFix/>
          </a:blip>
          <a:stretch>
            <a:fillRect/>
          </a:stretch>
        </p:blipFill>
        <p:spPr>
          <a:xfrm>
            <a:off x="2438000" y="2141788"/>
            <a:ext cx="6934200" cy="3905250"/>
          </a:xfrm>
          <a:prstGeom prst="rect">
            <a:avLst/>
          </a:prstGeom>
          <a:noFill/>
          <a:ln>
            <a:noFill/>
          </a:ln>
        </p:spPr>
      </p:pic>
      <p:sp>
        <p:nvSpPr>
          <p:cNvPr id="466" name="Google Shape;466;g3de259e4b8e_0_110"/>
          <p:cNvSpPr txBox="1"/>
          <p:nvPr/>
        </p:nvSpPr>
        <p:spPr>
          <a:xfrm>
            <a:off x="2322175" y="1390175"/>
            <a:ext cx="6749100" cy="461700"/>
          </a:xfrm>
          <a:prstGeom prst="rect">
            <a:avLst/>
          </a:prstGeom>
          <a:noFill/>
          <a:ln>
            <a:noFill/>
          </a:ln>
        </p:spPr>
        <p:txBody>
          <a:bodyPr spcFirstLastPara="1" wrap="square" lIns="91425" tIns="91425" rIns="91425" bIns="91425"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Solution for network intrusion detection systems</a:t>
            </a:r>
            <a:endParaRPr sz="18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g3de259e4b8e_0_13"/>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Limitations </a:t>
            </a:r>
            <a:endParaRPr sz="1600" b="1" i="0" u="none" strike="noStrike" cap="none">
              <a:solidFill>
                <a:schemeClr val="lt1"/>
              </a:solidFill>
              <a:latin typeface="Arial Black"/>
              <a:ea typeface="Arial Black"/>
              <a:cs typeface="Arial Black"/>
              <a:sym typeface="Arial Black"/>
            </a:endParaRPr>
          </a:p>
        </p:txBody>
      </p:sp>
      <p:sp>
        <p:nvSpPr>
          <p:cNvPr id="472" name="Google Shape;472;g3de259e4b8e_0_13"/>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73" name="Google Shape;473;g3de259e4b8e_0_13"/>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74" name="Google Shape;474;g3de259e4b8e_0_13"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475" name="Google Shape;475;g3de259e4b8e_0_13"/>
          <p:cNvSpPr txBox="1"/>
          <p:nvPr/>
        </p:nvSpPr>
        <p:spPr>
          <a:xfrm>
            <a:off x="2096250" y="1305350"/>
            <a:ext cx="7928400" cy="25860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Risk of </a:t>
            </a:r>
            <a:r>
              <a:rPr lang="en-US" sz="1800" b="1">
                <a:solidFill>
                  <a:schemeClr val="dk1"/>
                </a:solidFill>
              </a:rPr>
              <a:t>data leakage</a:t>
            </a:r>
            <a:r>
              <a:rPr lang="en-US" sz="1800">
                <a:solidFill>
                  <a:schemeClr val="dk1"/>
                </a:solidFill>
              </a:rPr>
              <a:t> (multi-model feature integration)</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High dependency on </a:t>
            </a:r>
            <a:r>
              <a:rPr lang="en-US" sz="1800" b="1">
                <a:solidFill>
                  <a:schemeClr val="dk1"/>
                </a:solidFill>
              </a:rPr>
              <a:t>derived features</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Limited</a:t>
            </a:r>
            <a:r>
              <a:rPr lang="en-US" sz="1800" b="1">
                <a:solidFill>
                  <a:schemeClr val="dk1"/>
                </a:solidFill>
              </a:rPr>
              <a:t> model interpretability</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High </a:t>
            </a:r>
            <a:r>
              <a:rPr lang="en-US" sz="1800" b="1">
                <a:solidFill>
                  <a:schemeClr val="dk1"/>
                </a:solidFill>
              </a:rPr>
              <a:t>computational cost</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Performance may vary with:</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Changing data distributions</a:t>
            </a:r>
            <a:endParaRPr sz="180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a:solidFill>
                  <a:schemeClr val="dk1"/>
                </a:solidFill>
              </a:rPr>
              <a:t>Rare attack classes</a:t>
            </a:r>
            <a:endParaRPr sz="1100">
              <a:solidFill>
                <a:schemeClr val="dk1"/>
              </a:solidFill>
            </a:endParaRPr>
          </a:p>
          <a:p>
            <a:pPr marL="285750" marR="0" lvl="0" indent="-285750" algn="l" rtl="0">
              <a:lnSpc>
                <a:spcPct val="100000"/>
              </a:lnSpc>
              <a:spcBef>
                <a:spcPts val="0"/>
              </a:spcBef>
              <a:spcAft>
                <a:spcPts val="0"/>
              </a:spcAft>
              <a:buClr>
                <a:schemeClr val="dk1"/>
              </a:buClr>
              <a:buSzPts val="1800"/>
              <a:buChar char="⮚"/>
            </a:pPr>
            <a:endParaRPr sz="1800">
              <a:solidFill>
                <a:schemeClr val="dk1"/>
              </a:solidFill>
            </a:endParaRPr>
          </a:p>
          <a:p>
            <a:pPr marL="0" marR="0" lvl="1" indent="0" algn="l" rtl="0">
              <a:lnSpc>
                <a:spcPct val="100000"/>
              </a:lnSpc>
              <a:spcBef>
                <a:spcPts val="0"/>
              </a:spcBef>
              <a:spcAft>
                <a:spcPts val="0"/>
              </a:spcAft>
              <a:buClr>
                <a:schemeClr val="dk1"/>
              </a:buClr>
              <a:buSzPts val="1800"/>
              <a:buFont typeface="Noto Sans Symbols"/>
              <a:buNone/>
            </a:pPr>
            <a:endParaRPr sz="18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g3de259e4b8e_0_124"/>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Future Work</a:t>
            </a:r>
            <a:endParaRPr sz="1600" b="1" i="0" u="none" strike="noStrike" cap="none">
              <a:solidFill>
                <a:schemeClr val="lt1"/>
              </a:solidFill>
              <a:latin typeface="Arial Black"/>
              <a:ea typeface="Arial Black"/>
              <a:cs typeface="Arial Black"/>
              <a:sym typeface="Arial Black"/>
            </a:endParaRPr>
          </a:p>
        </p:txBody>
      </p:sp>
      <p:sp>
        <p:nvSpPr>
          <p:cNvPr id="481" name="Google Shape;481;g3de259e4b8e_0_124"/>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82" name="Google Shape;482;g3de259e4b8e_0_124"/>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83" name="Google Shape;483;g3de259e4b8e_0_124"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484" name="Google Shape;484;g3de259e4b8e_0_124"/>
          <p:cNvSpPr txBox="1"/>
          <p:nvPr/>
        </p:nvSpPr>
        <p:spPr>
          <a:xfrm>
            <a:off x="2096250" y="1305350"/>
            <a:ext cx="7928400" cy="20319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Develop </a:t>
            </a:r>
            <a:r>
              <a:rPr lang="en-US" sz="1800" b="1">
                <a:solidFill>
                  <a:schemeClr val="dk1"/>
                </a:solidFill>
              </a:rPr>
              <a:t>fully integrated pipeline</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Explore </a:t>
            </a:r>
            <a:r>
              <a:rPr lang="en-US" sz="1800" b="1">
                <a:solidFill>
                  <a:schemeClr val="dk1"/>
                </a:solidFill>
              </a:rPr>
              <a:t>deep learning models</a:t>
            </a:r>
            <a:r>
              <a:rPr lang="en-US" sz="1800">
                <a:solidFill>
                  <a:schemeClr val="dk1"/>
                </a:solidFill>
              </a:rPr>
              <a:t> (CNN, LSTM)</a:t>
            </a:r>
            <a:endParaRPr sz="1800">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Enable </a:t>
            </a:r>
            <a:r>
              <a:rPr lang="en-US" sz="1800" b="1">
                <a:solidFill>
                  <a:schemeClr val="dk1"/>
                </a:solidFill>
              </a:rPr>
              <a:t>real-time intrusion detection</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Improve </a:t>
            </a:r>
            <a:r>
              <a:rPr lang="en-US" sz="1800" b="1">
                <a:solidFill>
                  <a:schemeClr val="dk1"/>
                </a:solidFill>
              </a:rPr>
              <a:t>feature engineering &amp; selection</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Enhance </a:t>
            </a:r>
            <a:r>
              <a:rPr lang="en-US" sz="1800" b="1">
                <a:solidFill>
                  <a:schemeClr val="dk1"/>
                </a:solidFill>
              </a:rPr>
              <a:t>model explainability</a:t>
            </a:r>
            <a:endParaRPr sz="1800" b="1">
              <a:solidFill>
                <a:schemeClr val="dk1"/>
              </a:solidFill>
            </a:endParaRPr>
          </a:p>
          <a:p>
            <a:pPr marL="285750" marR="0" lvl="0" indent="-285750" algn="l" rtl="0">
              <a:lnSpc>
                <a:spcPct val="100000"/>
              </a:lnSpc>
              <a:spcBef>
                <a:spcPts val="0"/>
              </a:spcBef>
              <a:spcAft>
                <a:spcPts val="0"/>
              </a:spcAft>
              <a:buClr>
                <a:schemeClr val="dk1"/>
              </a:buClr>
              <a:buSzPts val="1800"/>
              <a:buFont typeface="Noto Sans Symbols"/>
              <a:buChar char="⮚"/>
            </a:pPr>
            <a:r>
              <a:rPr lang="en-US" sz="1800">
                <a:solidFill>
                  <a:schemeClr val="dk1"/>
                </a:solidFill>
              </a:rPr>
              <a:t>Extend to </a:t>
            </a:r>
            <a:r>
              <a:rPr lang="en-US" sz="1800" b="1">
                <a:solidFill>
                  <a:schemeClr val="dk1"/>
                </a:solidFill>
              </a:rPr>
              <a:t>multi-class classification</a:t>
            </a:r>
            <a:endParaRPr sz="1800" b="1">
              <a:solidFill>
                <a:schemeClr val="dk1"/>
              </a:solidFill>
            </a:endParaRPr>
          </a:p>
          <a:p>
            <a:pPr marL="0" marR="0" lvl="1" indent="0" algn="l" rtl="0">
              <a:lnSpc>
                <a:spcPct val="100000"/>
              </a:lnSpc>
              <a:spcBef>
                <a:spcPts val="0"/>
              </a:spcBef>
              <a:spcAft>
                <a:spcPts val="0"/>
              </a:spcAft>
              <a:buClr>
                <a:schemeClr val="dk1"/>
              </a:buClr>
              <a:buSzPts val="1800"/>
              <a:buFont typeface="Noto Sans Symbols"/>
              <a:buNone/>
            </a:pPr>
            <a:endParaRPr sz="18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g3de259e4b8e_0_24"/>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a:solidFill>
                <a:schemeClr val="lt1"/>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Individual Contributions</a:t>
            </a:r>
            <a:endParaRPr sz="1800">
              <a:solidFill>
                <a:schemeClr val="lt1"/>
              </a:solidFill>
            </a:endParaRPr>
          </a:p>
          <a:p>
            <a:pPr marL="0" marR="0" lvl="0" indent="0" algn="ctr" rtl="0">
              <a:lnSpc>
                <a:spcPct val="100000"/>
              </a:lnSpc>
              <a:spcBef>
                <a:spcPts val="0"/>
              </a:spcBef>
              <a:spcAft>
                <a:spcPts val="0"/>
              </a:spcAft>
              <a:buClr>
                <a:srgbClr val="000000"/>
              </a:buClr>
              <a:buSzPts val="1800"/>
              <a:buFont typeface="Arial"/>
              <a:buNone/>
            </a:pPr>
            <a:endParaRPr sz="1800">
              <a:solidFill>
                <a:schemeClr val="lt1"/>
              </a:solidFill>
            </a:endParaRPr>
          </a:p>
        </p:txBody>
      </p:sp>
      <p:sp>
        <p:nvSpPr>
          <p:cNvPr id="490" name="Google Shape;490;g3de259e4b8e_0_24"/>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491" name="Google Shape;491;g3de259e4b8e_0_24"/>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492" name="Google Shape;492;g3de259e4b8e_0_24"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493" name="Google Shape;493;g3de259e4b8e_0_24"/>
          <p:cNvSpPr txBox="1"/>
          <p:nvPr/>
        </p:nvSpPr>
        <p:spPr>
          <a:xfrm>
            <a:off x="2096250" y="1305350"/>
            <a:ext cx="7928400" cy="5262939"/>
          </a:xfrm>
          <a:prstGeom prst="rect">
            <a:avLst/>
          </a:prstGeom>
          <a:noFill/>
          <a:ln>
            <a:noFill/>
          </a:ln>
        </p:spPr>
        <p:txBody>
          <a:bodyPr spcFirstLastPara="1" wrap="square" lIns="91425" tIns="45700" rIns="91425" bIns="45700" anchor="t" anchorCtr="0">
            <a:spAutoFit/>
          </a:bodyPr>
          <a:lstStyle/>
          <a:p>
            <a:pPr marL="285750" marR="0" lvl="0" indent="-273050" algn="l" rtl="0">
              <a:lnSpc>
                <a:spcPct val="100000"/>
              </a:lnSpc>
              <a:spcBef>
                <a:spcPts val="0"/>
              </a:spcBef>
              <a:spcAft>
                <a:spcPts val="0"/>
              </a:spcAft>
              <a:buClr>
                <a:schemeClr val="dk1"/>
              </a:buClr>
              <a:buSzPts val="1600"/>
              <a:buFont typeface="Noto Sans Symbols"/>
              <a:buChar char="⮚"/>
            </a:pPr>
            <a:r>
              <a:rPr lang="en-US" sz="1600" b="1" dirty="0">
                <a:solidFill>
                  <a:schemeClr val="dk1"/>
                </a:solidFill>
              </a:rPr>
              <a:t>Kalyan Brata Majumder</a:t>
            </a:r>
            <a:endParaRPr sz="1600" b="1" dirty="0">
              <a:solidFill>
                <a:schemeClr val="dk1"/>
              </a:solidFill>
            </a:endParaRPr>
          </a:p>
          <a:p>
            <a:pPr marL="914400" marR="0" lvl="1"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Data Preparation</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Dataset collection (CICIDS2017)</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Data cleaning &amp; preprocessing</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Handling missing, infinite &amp; inconsistent values</a:t>
            </a:r>
            <a:endParaRPr sz="1600" dirty="0">
              <a:solidFill>
                <a:schemeClr val="dk1"/>
              </a:solidFill>
            </a:endParaRPr>
          </a:p>
          <a:p>
            <a:pPr marL="914400" marR="0" lvl="1"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Model : </a:t>
            </a:r>
            <a:r>
              <a:rPr lang="en-US" sz="1600" b="1" dirty="0">
                <a:solidFill>
                  <a:schemeClr val="dk1"/>
                </a:solidFill>
              </a:rPr>
              <a:t>Supervised Learning (Random Forest)</a:t>
            </a:r>
            <a:endParaRPr sz="1600" b="1"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Feature selection using random forest feature importance</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Model training &amp; hyperparameter tuning</a:t>
            </a:r>
            <a:endParaRPr sz="1600" dirty="0">
              <a:solidFill>
                <a:schemeClr val="dk1"/>
              </a:solidFill>
            </a:endParaRPr>
          </a:p>
          <a:p>
            <a:pPr marL="914400" marR="0" lvl="1"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Model : </a:t>
            </a:r>
            <a:r>
              <a:rPr lang="en-US" sz="1600" b="1" dirty="0">
                <a:solidFill>
                  <a:schemeClr val="dk1"/>
                </a:solidFill>
              </a:rPr>
              <a:t>Supervised Learning (</a:t>
            </a:r>
            <a:r>
              <a:rPr lang="en-US" sz="1600" b="1" dirty="0" err="1">
                <a:solidFill>
                  <a:schemeClr val="dk1"/>
                </a:solidFill>
              </a:rPr>
              <a:t>XGBoost</a:t>
            </a:r>
            <a:r>
              <a:rPr lang="en-US" sz="1600" b="1" dirty="0">
                <a:solidFill>
                  <a:schemeClr val="dk1"/>
                </a:solidFill>
              </a:rPr>
              <a:t>)</a:t>
            </a:r>
            <a:endParaRPr sz="1600" b="1"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Integration of RF + K-Means outputs</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Feature fusion &amp; selection</a:t>
            </a:r>
            <a:endParaRPr sz="1600" dirty="0">
              <a:solidFill>
                <a:schemeClr val="dk1"/>
              </a:solidFill>
            </a:endParaRPr>
          </a:p>
          <a:p>
            <a:pPr marL="1371600" lvl="2" indent="-330200">
              <a:buClr>
                <a:schemeClr val="dk1"/>
              </a:buClr>
              <a:buSzPts val="1600"/>
              <a:buFont typeface="Noto Sans Symbols"/>
              <a:buChar char="■"/>
            </a:pPr>
            <a:r>
              <a:rPr lang="en-US" sz="1600" dirty="0">
                <a:solidFill>
                  <a:schemeClr val="dk1"/>
                </a:solidFill>
              </a:rPr>
              <a:t>Model training &amp; hyperparameter tuning.</a:t>
            </a:r>
            <a:endParaRPr sz="1600" dirty="0">
              <a:solidFill>
                <a:schemeClr val="dk1"/>
              </a:solidFill>
            </a:endParaRPr>
          </a:p>
          <a:p>
            <a:pPr marL="914400" marR="0" lvl="1"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Performance Evaluation of individual models using: </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Classification report ,Confusion Matrix, ROC Curve, Learning Curve</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Result analysis &amp; comparison</a:t>
            </a:r>
            <a:endParaRPr sz="1600" dirty="0">
              <a:solidFill>
                <a:schemeClr val="dk1"/>
              </a:solidFill>
            </a:endParaRPr>
          </a:p>
          <a:p>
            <a:pPr marL="914400" lvl="1" indent="-330200" algn="l" rtl="0">
              <a:spcBef>
                <a:spcPts val="0"/>
              </a:spcBef>
              <a:spcAft>
                <a:spcPts val="0"/>
              </a:spcAft>
              <a:buClr>
                <a:schemeClr val="dk1"/>
              </a:buClr>
              <a:buSzPts val="1600"/>
              <a:buChar char="○"/>
            </a:pPr>
            <a:r>
              <a:rPr lang="en-US" sz="1600" dirty="0">
                <a:solidFill>
                  <a:schemeClr val="dk1"/>
                </a:solidFill>
              </a:rPr>
              <a:t>Documentation</a:t>
            </a:r>
            <a:endParaRPr sz="1600" dirty="0">
              <a:solidFill>
                <a:schemeClr val="dk1"/>
              </a:solidFill>
            </a:endParaRPr>
          </a:p>
          <a:p>
            <a:pPr marL="1371600" lvl="2" indent="-330200" algn="l" rtl="0">
              <a:spcBef>
                <a:spcPts val="0"/>
              </a:spcBef>
              <a:spcAft>
                <a:spcPts val="0"/>
              </a:spcAft>
              <a:buClr>
                <a:schemeClr val="dk1"/>
              </a:buClr>
              <a:buSzPts val="1600"/>
              <a:buFont typeface="Noto Sans Symbols"/>
              <a:buChar char="■"/>
            </a:pPr>
            <a:r>
              <a:rPr lang="en-US" sz="1600" dirty="0">
                <a:solidFill>
                  <a:schemeClr val="dk1"/>
                </a:solidFill>
              </a:rPr>
              <a:t>Technical Report </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A well-structured GitHub Project repository</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Code modularization.</a:t>
            </a:r>
            <a:endParaRPr sz="1600" dirty="0">
              <a:solidFill>
                <a:schemeClr val="dk1"/>
              </a:solidFill>
            </a:endParaRPr>
          </a:p>
          <a:p>
            <a:pPr marL="1371600" marR="0" lvl="2" indent="-330200" algn="l" rtl="0">
              <a:lnSpc>
                <a:spcPct val="100000"/>
              </a:lnSpc>
              <a:spcBef>
                <a:spcPts val="0"/>
              </a:spcBef>
              <a:spcAft>
                <a:spcPts val="0"/>
              </a:spcAft>
              <a:buClr>
                <a:schemeClr val="dk1"/>
              </a:buClr>
              <a:buSzPts val="1600"/>
              <a:buFont typeface="Noto Sans Symbols"/>
              <a:buChar char="■"/>
            </a:pPr>
            <a:r>
              <a:rPr lang="en-US" sz="1600" dirty="0">
                <a:solidFill>
                  <a:schemeClr val="dk1"/>
                </a:solidFill>
              </a:rPr>
              <a:t>Documentation and README preparation. </a:t>
            </a:r>
            <a:endParaRPr sz="1600" dirty="0">
              <a:solidFill>
                <a:schemeClr val="dk1"/>
              </a:solidFill>
            </a:endParaRPr>
          </a:p>
          <a:p>
            <a:pPr marL="457200" marR="0" lvl="0" indent="0" algn="l" rtl="0">
              <a:lnSpc>
                <a:spcPct val="100000"/>
              </a:lnSpc>
              <a:spcBef>
                <a:spcPts val="0"/>
              </a:spcBef>
              <a:spcAft>
                <a:spcPts val="0"/>
              </a:spcAft>
              <a:buNone/>
            </a:pPr>
            <a:endParaRPr sz="1600" dirty="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g3de259e4b8e_0_38"/>
          <p:cNvSpPr/>
          <p:nvPr/>
        </p:nvSpPr>
        <p:spPr>
          <a:xfrm>
            <a:off x="2096255" y="0"/>
            <a:ext cx="8001600" cy="992100"/>
          </a:xfrm>
          <a:prstGeom prst="rect">
            <a:avLst/>
          </a:prstGeom>
          <a:solidFill>
            <a:srgbClr val="002469"/>
          </a:solidFill>
          <a:ln>
            <a:noFill/>
          </a:ln>
        </p:spPr>
        <p:txBody>
          <a:bodyPr spcFirstLastPara="1" wrap="square" lIns="19025" tIns="9525" rIns="19025" bIns="95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a:solidFill>
                <a:schemeClr val="lt1"/>
              </a:solidFill>
            </a:endParaRPr>
          </a:p>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Individual Contributions</a:t>
            </a:r>
            <a:endParaRPr sz="1800">
              <a:solidFill>
                <a:schemeClr val="lt1"/>
              </a:solidFill>
            </a:endParaRPr>
          </a:p>
          <a:p>
            <a:pPr marL="0" marR="0" lvl="0" indent="0" algn="ctr" rtl="0">
              <a:lnSpc>
                <a:spcPct val="100000"/>
              </a:lnSpc>
              <a:spcBef>
                <a:spcPts val="0"/>
              </a:spcBef>
              <a:spcAft>
                <a:spcPts val="0"/>
              </a:spcAft>
              <a:buClr>
                <a:srgbClr val="000000"/>
              </a:buClr>
              <a:buSzPts val="1800"/>
              <a:buFont typeface="Arial"/>
              <a:buNone/>
            </a:pPr>
            <a:endParaRPr sz="1800">
              <a:solidFill>
                <a:schemeClr val="lt1"/>
              </a:solidFill>
            </a:endParaRPr>
          </a:p>
        </p:txBody>
      </p:sp>
      <p:sp>
        <p:nvSpPr>
          <p:cNvPr id="499" name="Google Shape;499;g3de259e4b8e_0_38"/>
          <p:cNvSpPr/>
          <p:nvPr/>
        </p:nvSpPr>
        <p:spPr>
          <a:xfrm>
            <a:off x="2096255" y="6720417"/>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sp>
        <p:nvSpPr>
          <p:cNvPr id="500" name="Google Shape;500;g3de259e4b8e_0_38"/>
          <p:cNvSpPr/>
          <p:nvPr/>
        </p:nvSpPr>
        <p:spPr>
          <a:xfrm>
            <a:off x="2096255" y="952040"/>
            <a:ext cx="8001600" cy="148200"/>
          </a:xfrm>
          <a:prstGeom prst="rect">
            <a:avLst/>
          </a:prstGeom>
          <a:solidFill>
            <a:srgbClr val="78B3E0"/>
          </a:solidFill>
          <a:ln>
            <a:noFill/>
          </a:ln>
        </p:spPr>
        <p:txBody>
          <a:bodyPr spcFirstLastPara="1" wrap="square" lIns="19050" tIns="9525" rIns="19050" bIns="9525" anchor="ctr" anchorCtr="0">
            <a:noAutofit/>
          </a:bodyPr>
          <a:lstStyle/>
          <a:p>
            <a:pPr marL="0" marR="0" lvl="0" indent="0" algn="ctr" rtl="0">
              <a:lnSpc>
                <a:spcPct val="100000"/>
              </a:lnSpc>
              <a:spcBef>
                <a:spcPts val="0"/>
              </a:spcBef>
              <a:spcAft>
                <a:spcPts val="0"/>
              </a:spcAft>
              <a:buClr>
                <a:srgbClr val="000000"/>
              </a:buClr>
              <a:buSzPts val="375"/>
              <a:buFont typeface="Arial"/>
              <a:buNone/>
            </a:pPr>
            <a:endParaRPr sz="375" b="0" i="0" u="none" strike="noStrike" cap="none">
              <a:solidFill>
                <a:schemeClr val="lt1"/>
              </a:solidFill>
              <a:latin typeface="Arial"/>
              <a:ea typeface="Arial"/>
              <a:cs typeface="Arial"/>
              <a:sym typeface="Arial"/>
            </a:endParaRPr>
          </a:p>
        </p:txBody>
      </p:sp>
      <p:pic>
        <p:nvPicPr>
          <p:cNvPr id="501" name="Google Shape;501;g3de259e4b8e_0_38" descr="USD 4c Logo reverse.ai"/>
          <p:cNvPicPr preferRelativeResize="0"/>
          <p:nvPr/>
        </p:nvPicPr>
        <p:blipFill rotWithShape="1">
          <a:blip r:embed="rId3">
            <a:alphaModFix/>
          </a:blip>
          <a:srcRect/>
          <a:stretch/>
        </p:blipFill>
        <p:spPr>
          <a:xfrm>
            <a:off x="9256377" y="147142"/>
            <a:ext cx="839368" cy="745402"/>
          </a:xfrm>
          <a:prstGeom prst="rect">
            <a:avLst/>
          </a:prstGeom>
          <a:noFill/>
          <a:ln>
            <a:noFill/>
          </a:ln>
        </p:spPr>
      </p:pic>
      <p:sp>
        <p:nvSpPr>
          <p:cNvPr id="502" name="Google Shape;502;g3de259e4b8e_0_38"/>
          <p:cNvSpPr txBox="1"/>
          <p:nvPr/>
        </p:nvSpPr>
        <p:spPr>
          <a:xfrm>
            <a:off x="2096250" y="1305350"/>
            <a:ext cx="7928400" cy="4525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Noto Sans Symbols"/>
              <a:buChar char="⮚"/>
            </a:pPr>
            <a:r>
              <a:rPr lang="en-US" sz="1800" b="1" dirty="0">
                <a:solidFill>
                  <a:schemeClr val="dk1"/>
                </a:solidFill>
              </a:rPr>
              <a:t>Karthik Mekala</a:t>
            </a:r>
            <a:endParaRPr sz="1800" b="1"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Data Preparation</a:t>
            </a:r>
            <a:endParaRPr sz="1800" dirty="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Data analysis, cleaning &amp; preprocessing</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Model: </a:t>
            </a:r>
            <a:r>
              <a:rPr lang="en-US" sz="1800" b="1" dirty="0">
                <a:solidFill>
                  <a:schemeClr val="dk1"/>
                </a:solidFill>
              </a:rPr>
              <a:t>Unsupervised Learning (K-Means)</a:t>
            </a:r>
            <a:endParaRPr sz="1800" b="1" dirty="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Data balancing &amp; feature scaling</a:t>
            </a:r>
            <a:endParaRPr sz="1800" dirty="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PCA for dimensionality reduction</a:t>
            </a:r>
            <a:endParaRPr sz="1800" dirty="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Clustering &amp; feature extraction (cluster labels, distances)</a:t>
            </a:r>
            <a:endParaRPr sz="1800" dirty="0">
              <a:solidFill>
                <a:schemeClr val="dk1"/>
              </a:solidFill>
            </a:endParaRPr>
          </a:p>
          <a:p>
            <a:pPr marL="914400" marR="0" lvl="1"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Evaluation</a:t>
            </a:r>
            <a:endParaRPr sz="1800" dirty="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Confusion Matrix, ROC Curve, Learning Curve</a:t>
            </a:r>
            <a:endParaRPr sz="1800" dirty="0">
              <a:solidFill>
                <a:schemeClr val="dk1"/>
              </a:solidFill>
            </a:endParaRPr>
          </a:p>
          <a:p>
            <a:pPr marL="1371600" marR="0" lvl="2" indent="-342900" algn="l" rtl="0">
              <a:lnSpc>
                <a:spcPct val="100000"/>
              </a:lnSpc>
              <a:spcBef>
                <a:spcPts val="0"/>
              </a:spcBef>
              <a:spcAft>
                <a:spcPts val="0"/>
              </a:spcAft>
              <a:buClr>
                <a:schemeClr val="dk1"/>
              </a:buClr>
              <a:buSzPts val="1800"/>
              <a:buFont typeface="Noto Sans Symbols"/>
              <a:buChar char="■"/>
            </a:pPr>
            <a:r>
              <a:rPr lang="en-US" sz="1800" dirty="0">
                <a:solidFill>
                  <a:schemeClr val="dk1"/>
                </a:solidFill>
              </a:rPr>
              <a:t>Result analysis &amp; comparison</a:t>
            </a:r>
            <a:endParaRPr sz="1800" dirty="0">
              <a:solidFill>
                <a:schemeClr val="dk1"/>
              </a:solidFill>
            </a:endParaRPr>
          </a:p>
          <a:p>
            <a:pPr marL="914400" lvl="1" indent="-342900" algn="l" rtl="0">
              <a:spcBef>
                <a:spcPts val="0"/>
              </a:spcBef>
              <a:spcAft>
                <a:spcPts val="0"/>
              </a:spcAft>
              <a:buClr>
                <a:schemeClr val="dk1"/>
              </a:buClr>
              <a:buSzPts val="1800"/>
              <a:buChar char="○"/>
            </a:pPr>
            <a:r>
              <a:rPr lang="en-US" sz="1800" dirty="0">
                <a:solidFill>
                  <a:schemeClr val="dk1"/>
                </a:solidFill>
              </a:rPr>
              <a:t>Documentation</a:t>
            </a:r>
            <a:endParaRPr sz="1800" dirty="0">
              <a:solidFill>
                <a:schemeClr val="dk1"/>
              </a:solidFill>
            </a:endParaRPr>
          </a:p>
          <a:p>
            <a:pPr marL="1371600" lvl="2" indent="-342900" algn="l" rtl="0">
              <a:spcBef>
                <a:spcPts val="0"/>
              </a:spcBef>
              <a:spcAft>
                <a:spcPts val="0"/>
              </a:spcAft>
              <a:buClr>
                <a:schemeClr val="dk1"/>
              </a:buClr>
              <a:buSzPts val="1800"/>
              <a:buFont typeface="Noto Sans Symbols"/>
              <a:buChar char="■"/>
            </a:pPr>
            <a:r>
              <a:rPr lang="en-US" sz="1800" dirty="0">
                <a:solidFill>
                  <a:schemeClr val="dk1"/>
                </a:solidFill>
              </a:rPr>
              <a:t>Technical Presentation</a:t>
            </a:r>
            <a:endParaRPr sz="1800" dirty="0">
              <a:solidFill>
                <a:schemeClr val="dk1"/>
              </a:solidFill>
            </a:endParaRPr>
          </a:p>
          <a:p>
            <a:pPr marL="1371600" lvl="2" indent="-342900" algn="l" rtl="0">
              <a:spcBef>
                <a:spcPts val="0"/>
              </a:spcBef>
              <a:spcAft>
                <a:spcPts val="0"/>
              </a:spcAft>
              <a:buClr>
                <a:schemeClr val="dk1"/>
              </a:buClr>
              <a:buSzPts val="1800"/>
              <a:buFont typeface="Noto Sans Symbols"/>
              <a:buChar char="■"/>
            </a:pPr>
            <a:r>
              <a:rPr lang="en-US" sz="1800" dirty="0">
                <a:solidFill>
                  <a:schemeClr val="dk1"/>
                </a:solidFill>
              </a:rPr>
              <a:t>A well-structured GitHub Project repository</a:t>
            </a:r>
            <a:endParaRPr sz="1800" dirty="0">
              <a:solidFill>
                <a:schemeClr val="dk1"/>
              </a:solidFill>
            </a:endParaRPr>
          </a:p>
          <a:p>
            <a:pPr marL="1371600" lvl="2" indent="-342900" algn="l" rtl="0">
              <a:spcBef>
                <a:spcPts val="0"/>
              </a:spcBef>
              <a:spcAft>
                <a:spcPts val="0"/>
              </a:spcAft>
              <a:buClr>
                <a:schemeClr val="dk1"/>
              </a:buClr>
              <a:buSzPts val="1800"/>
              <a:buFont typeface="Noto Sans Symbols"/>
              <a:buChar char="■"/>
            </a:pPr>
            <a:r>
              <a:rPr lang="en-US" sz="1800" dirty="0">
                <a:solidFill>
                  <a:schemeClr val="dk1"/>
                </a:solidFill>
              </a:rPr>
              <a:t>Code modularization.</a:t>
            </a:r>
            <a:endParaRPr sz="1800" dirty="0">
              <a:solidFill>
                <a:schemeClr val="dk1"/>
              </a:solidFill>
            </a:endParaRPr>
          </a:p>
          <a:p>
            <a:pPr marL="1371600" lvl="2" indent="-330200" algn="l" rtl="0">
              <a:spcBef>
                <a:spcPts val="0"/>
              </a:spcBef>
              <a:spcAft>
                <a:spcPts val="0"/>
              </a:spcAft>
              <a:buClr>
                <a:schemeClr val="dk1"/>
              </a:buClr>
              <a:buSzPts val="1600"/>
              <a:buFont typeface="Noto Sans Symbols"/>
              <a:buChar char="■"/>
            </a:pPr>
            <a:r>
              <a:rPr lang="en-US" sz="1800" dirty="0">
                <a:solidFill>
                  <a:schemeClr val="dk1"/>
                </a:solidFill>
              </a:rPr>
              <a:t>Documentation and README preparation.</a:t>
            </a:r>
            <a:r>
              <a:rPr lang="en-US" sz="1600" dirty="0">
                <a:solidFill>
                  <a:schemeClr val="dk1"/>
                </a:solidFill>
              </a:rPr>
              <a:t> </a:t>
            </a:r>
            <a:endParaRPr sz="1800" dirty="0">
              <a:solidFill>
                <a:schemeClr val="dk1"/>
              </a:solidFill>
            </a:endParaRPr>
          </a:p>
          <a:p>
            <a:pPr marL="457200" marR="0" lvl="0" indent="0" algn="l" rtl="0">
              <a:lnSpc>
                <a:spcPct val="100000"/>
              </a:lnSpc>
              <a:spcBef>
                <a:spcPts val="0"/>
              </a:spcBef>
              <a:spcAft>
                <a:spcPts val="0"/>
              </a:spcAft>
              <a:buNone/>
            </a:pPr>
            <a:endParaRPr sz="1800" dirty="0">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2049</Words>
  <Application>Microsoft Office PowerPoint</Application>
  <PresentationFormat>Widescreen</PresentationFormat>
  <Paragraphs>442</Paragraphs>
  <Slides>46</Slides>
  <Notes>46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Arial Black</vt:lpstr>
      <vt:lpstr>Noto Sans Symbols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Kalyan Brata Majumder</dc:creator>
  <cp:lastModifiedBy>Kalyan Brata Majumder</cp:lastModifiedBy>
  <cp:revision>13</cp:revision>
  <dcterms:created xsi:type="dcterms:W3CDTF">2026-02-16T15:45:36Z</dcterms:created>
  <dcterms:modified xsi:type="dcterms:W3CDTF">2026-04-12T07:04:07Z</dcterms:modified>
</cp:coreProperties>
</file>